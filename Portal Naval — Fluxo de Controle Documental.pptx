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Controlar o fluxo documental garante a solidez de toda a entrega ao banco e organiza o nosso trabalho prático. Mapeamos cinco tomos estruturados em trinta capítulos e duzentas e cinquenta e uma seções para dar conta do volume do estudo. O processo avança de forma contínua pela produção, revisão, consolidação e integração. O executor produz o conteúdo, o revisor independente valida o material, a coordenação consolida o capítulo e o projeto integra tudo para o envio. Nosso calendário oficial M1 a M6 roda de vinte e um de agosto de dois mil e vinte e seis a vinte de fevereiro de dois mil e sete. Fiquem atentos aos prazos operacionais, com entregas internas no dia quinze e o encaminhamento ao BNDES no dia trinta. Vamos ver agora como nossa equipe se organiza para tocar essas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referência operacional se apoia na matriz funcional estruturada de G1 a G11, reunindo vinte e nove integrantes definidos na reunião de kick-off. Cada grupo assume frentes específicas para cobrir todo o escopo técnico do estudo. O nosso próximo passo prático exige a confirmação direta de executor, revisor, prazo e interfaces em cada seção. Façam o primeiro acesso ao portal com a conta Google e o e-mail pré-cadastrado para validar o perfil. Alinhem cada responsabilidade de perto para garantir que nossa engrenagem comece a rodar sem atritos.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0"/>
            <a:ext cx="90297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985838"/>
          </a:xfrm>
          <a:prstGeom prst="rect">
            <a:avLst/>
          </a:prstGeom>
          <a:solidFill>
            <a:srgbClr val="123B3A"/>
          </a:solidFill>
          <a:ln/>
        </p:spPr>
      </p:sp>
      <p:sp>
        <p:nvSpPr>
          <p:cNvPr id="5" name="Text 1"/>
          <p:cNvSpPr/>
          <p:nvPr/>
        </p:nvSpPr>
        <p:spPr>
          <a:xfrm>
            <a:off x="400050" y="298586"/>
            <a:ext cx="458913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E7D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NAVAL · GESTÃO DO ESTUDO BNDES</a:t>
            </a:r>
            <a:endParaRPr lang="en-US" sz="550" dirty="0"/>
          </a:p>
        </p:txBody>
      </p:sp>
      <p:sp>
        <p:nvSpPr>
          <p:cNvPr id="6" name="Text 2"/>
          <p:cNvSpPr/>
          <p:nvPr/>
        </p:nvSpPr>
        <p:spPr>
          <a:xfrm>
            <a:off x="400050" y="434318"/>
            <a:ext cx="4589134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85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documental do Estudo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00050" y="744345"/>
            <a:ext cx="4589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9D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Seção · Capítulo · Tomo · Relatório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4989184" y="403622"/>
            <a:ext cx="12515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dirty="0">
                <a:solidFill>
                  <a:srgbClr val="E7D1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89184" y="653653"/>
            <a:ext cx="1251552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b="1" dirty="0">
                <a:solidFill>
                  <a:srgbClr val="D6E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tomos</a:t>
            </a:r>
            <a:endParaRPr lang="en-US" sz="500" dirty="0"/>
          </a:p>
        </p:txBody>
      </p:sp>
      <p:sp>
        <p:nvSpPr>
          <p:cNvPr id="10" name="Text 6"/>
          <p:cNvSpPr/>
          <p:nvPr/>
        </p:nvSpPr>
        <p:spPr>
          <a:xfrm>
            <a:off x="6319317" y="403622"/>
            <a:ext cx="11730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dirty="0">
                <a:solidFill>
                  <a:srgbClr val="E7D1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19317" y="653653"/>
            <a:ext cx="1173026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b="1" dirty="0">
                <a:solidFill>
                  <a:srgbClr val="D6E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capítulos</a:t>
            </a:r>
            <a:endParaRPr lang="en-US" sz="500" dirty="0"/>
          </a:p>
        </p:txBody>
      </p:sp>
      <p:sp>
        <p:nvSpPr>
          <p:cNvPr id="12" name="Text 8"/>
          <p:cNvSpPr/>
          <p:nvPr/>
        </p:nvSpPr>
        <p:spPr>
          <a:xfrm>
            <a:off x="7570924" y="403622"/>
            <a:ext cx="11729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dirty="0">
                <a:solidFill>
                  <a:srgbClr val="E7D1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70924" y="653653"/>
            <a:ext cx="1172970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" b="1" dirty="0">
                <a:solidFill>
                  <a:srgbClr val="D6E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seções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400050" y="1228725"/>
            <a:ext cx="8343900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 TRABALHO NO PORTAL</a:t>
            </a:r>
            <a:endParaRPr lang="en-US" sz="500" dirty="0"/>
          </a:p>
        </p:txBody>
      </p:sp>
      <p:sp>
        <p:nvSpPr>
          <p:cNvPr id="15" name="Text 11"/>
          <p:cNvSpPr/>
          <p:nvPr/>
        </p:nvSpPr>
        <p:spPr>
          <a:xfrm>
            <a:off x="400050" y="1368028"/>
            <a:ext cx="8343900" cy="223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55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seção à documentação final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00050" y="1656011"/>
            <a:ext cx="6429375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85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seção concentra a produção, as evidências, a revisão e o encaminhamento. Cada transição fica registrada para apoiar a coordenação do capítulo, do tomo e do projeto.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21494" y="2232422"/>
            <a:ext cx="18573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B68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21494" y="2486025"/>
            <a:ext cx="18430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5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Produzir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21494" y="2686050"/>
            <a:ext cx="1843088" cy="22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600" dirty="0">
                <a:solidFill>
                  <a:srgbClr val="466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executor desenvolve o conteúdo e carrega a versão de trabalho.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2614613" y="2232422"/>
            <a:ext cx="18573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B68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614613" y="2486025"/>
            <a:ext cx="1835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5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614613" y="2686050"/>
            <a:ext cx="1835944" cy="22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600" dirty="0">
                <a:solidFill>
                  <a:srgbClr val="466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revisor independente analisa, comenta e aprova ou devolve para ajuste.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4700588" y="2232422"/>
            <a:ext cx="18573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B68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700588" y="2486025"/>
            <a:ext cx="1835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5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Consolidar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00588" y="2686050"/>
            <a:ext cx="1835944" cy="22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600" dirty="0">
                <a:solidFill>
                  <a:srgbClr val="466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coordenação do capítulo integra as seções e trata as interfaces em aberto.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6786563" y="2232422"/>
            <a:ext cx="18573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dirty="0">
                <a:solidFill>
                  <a:srgbClr val="B687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786563" y="2486025"/>
            <a:ext cx="18359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05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786563" y="2686050"/>
            <a:ext cx="1835944" cy="22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600" dirty="0">
                <a:solidFill>
                  <a:srgbClr val="466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tomo valida; o projeto consolida e encaminha a documentação ao BNDES.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0" y="3743325"/>
            <a:ext cx="9144000" cy="1400175"/>
          </a:xfrm>
          <a:prstGeom prst="rect">
            <a:avLst/>
          </a:prstGeom>
          <a:solidFill>
            <a:srgbClr val="E7EEEB"/>
          </a:solidFill>
          <a:ln/>
        </p:spPr>
      </p:sp>
      <p:sp>
        <p:nvSpPr>
          <p:cNvPr id="30" name="Shape 26"/>
          <p:cNvSpPr/>
          <p:nvPr/>
        </p:nvSpPr>
        <p:spPr>
          <a:xfrm>
            <a:off x="0" y="3743325"/>
            <a:ext cx="9144000" cy="7144"/>
          </a:xfrm>
          <a:prstGeom prst="rect">
            <a:avLst/>
          </a:prstGeom>
          <a:solidFill>
            <a:srgbClr val="B9CDCA"/>
          </a:solidFill>
          <a:ln/>
        </p:spPr>
      </p:sp>
      <p:sp>
        <p:nvSpPr>
          <p:cNvPr id="31" name="Text 27"/>
          <p:cNvSpPr/>
          <p:nvPr/>
        </p:nvSpPr>
        <p:spPr>
          <a:xfrm>
            <a:off x="400050" y="3971925"/>
            <a:ext cx="2695538" cy="113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400050" y="4113628"/>
            <a:ext cx="228745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dirty="0">
                <a:solidFill>
                  <a:srgbClr val="49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Executor, prazo, documento e evidências na ficha da seção.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3224175" y="3971925"/>
            <a:ext cx="2695594" cy="113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3224175" y="4113628"/>
            <a:ext cx="208229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dirty="0">
                <a:solidFill>
                  <a:srgbClr val="49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Revisor designado, comentários e parecer registrados.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6048356" y="3971925"/>
            <a:ext cx="2695594" cy="1131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6048356" y="4113628"/>
            <a:ext cx="237334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dirty="0">
                <a:solidFill>
                  <a:srgbClr val="49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Pendência, responsável e resolução acompanhados no portal.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400050" y="4348200"/>
            <a:ext cx="834390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do portal:</a:t>
            </a:r>
            <a:r>
              <a:rPr lang="en-US" sz="6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M1–M6, de 21/08/2026 a 20/02/2027. Entrega interna até o dia 15; consolidação e encaminhamento ao BNDES no dia 30.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0"/>
            <a:ext cx="90297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928688"/>
          </a:xfrm>
          <a:prstGeom prst="rect">
            <a:avLst/>
          </a:prstGeom>
          <a:solidFill>
            <a:srgbClr val="123B3A"/>
          </a:solidFill>
          <a:ln/>
        </p:spPr>
      </p:sp>
      <p:sp>
        <p:nvSpPr>
          <p:cNvPr id="5" name="Text 1"/>
          <p:cNvSpPr/>
          <p:nvPr/>
        </p:nvSpPr>
        <p:spPr>
          <a:xfrm>
            <a:off x="400050" y="267667"/>
            <a:ext cx="5632121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E7D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NAVAL · GESTÃO DO ESTUDO BNDES</a:t>
            </a:r>
            <a:endParaRPr lang="en-US" sz="500" dirty="0"/>
          </a:p>
        </p:txBody>
      </p:sp>
      <p:sp>
        <p:nvSpPr>
          <p:cNvPr id="6" name="Text 2"/>
          <p:cNvSpPr/>
          <p:nvPr/>
        </p:nvSpPr>
        <p:spPr>
          <a:xfrm>
            <a:off x="400050" y="392683"/>
            <a:ext cx="5632121" cy="2451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75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e grupos de trabalho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400050" y="687809"/>
            <a:ext cx="56321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C9D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Composição de referência da reunião de kick-off para organização da execução do Estudo.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032171" y="432755"/>
            <a:ext cx="27117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integrantes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32171" y="611349"/>
            <a:ext cx="14613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600" dirty="0">
                <a:solidFill>
                  <a:srgbClr val="D6E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Organizados em 11 grupos funcionais.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400050" y="1092994"/>
            <a:ext cx="8343900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COMPOSIÇÃO POR GRUPO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400050" y="1225153"/>
            <a:ext cx="8343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30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Participantes da equipe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0050" y="1460897"/>
            <a:ext cx="8343900" cy="93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atribuição de executor, revisor, prazo e interfaces é confirmada por seção no Portal Naval.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400050" y="1718965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400050" y="1826121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Sistematização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400050" y="1952978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Floriano Carlos Martins Pires Jr.; Segen Farid Estefen; Luiz Felipe Assis; Cassiano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400050" y="2072804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Marins de Souza; Marcos Bernardes Cozzolino do Nascimento; Carlos Frederico Leão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400050" y="2192629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Rocha; Marcelo Colomer Ferraro.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3233719" y="1718965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G2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3233719" y="1826121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 industrial e cadeia de suprimentos</a:t>
            </a:r>
            <a:endParaRPr lang="en-US" sz="550" dirty="0"/>
          </a:p>
        </p:txBody>
      </p:sp>
      <p:sp>
        <p:nvSpPr>
          <p:cNvPr id="20" name="Text 16"/>
          <p:cNvSpPr/>
          <p:nvPr/>
        </p:nvSpPr>
        <p:spPr>
          <a:xfrm>
            <a:off x="3233719" y="1952978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Carlos Frederico Leão Rocha; Marcelo Colomer Ferraro; Helder Queiroz Pinto Junior;</a:t>
            </a:r>
            <a:endParaRPr lang="en-US" sz="500" dirty="0"/>
          </a:p>
        </p:txBody>
      </p:sp>
      <p:sp>
        <p:nvSpPr>
          <p:cNvPr id="21" name="Text 17"/>
          <p:cNvSpPr/>
          <p:nvPr/>
        </p:nvSpPr>
        <p:spPr>
          <a:xfrm>
            <a:off x="3233719" y="2072804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Germano Mendes de Paula; Rodrigo Coelho Sabbatini.</a:t>
            </a:r>
            <a:endParaRPr lang="en-US" sz="500" dirty="0"/>
          </a:p>
        </p:txBody>
      </p:sp>
      <p:sp>
        <p:nvSpPr>
          <p:cNvPr id="22" name="Text 18"/>
          <p:cNvSpPr/>
          <p:nvPr/>
        </p:nvSpPr>
        <p:spPr>
          <a:xfrm>
            <a:off x="6067388" y="1718965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G3</a:t>
            </a:r>
            <a:endParaRPr lang="en-US" sz="550" dirty="0"/>
          </a:p>
        </p:txBody>
      </p:sp>
      <p:sp>
        <p:nvSpPr>
          <p:cNvPr id="23" name="Text 19"/>
          <p:cNvSpPr/>
          <p:nvPr/>
        </p:nvSpPr>
        <p:spPr>
          <a:xfrm>
            <a:off x="6067388" y="1826121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 e políticas marítimas</a:t>
            </a:r>
            <a:endParaRPr lang="en-US" sz="550" dirty="0"/>
          </a:p>
        </p:txBody>
      </p:sp>
      <p:sp>
        <p:nvSpPr>
          <p:cNvPr id="24" name="Text 20"/>
          <p:cNvSpPr/>
          <p:nvPr/>
        </p:nvSpPr>
        <p:spPr>
          <a:xfrm>
            <a:off x="6067388" y="1952978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Antonio João Prates; Armando Freigedo Rodrigues Filho; Paulo Otavio de Paiva</a:t>
            </a:r>
            <a:endParaRPr lang="en-US" sz="500" dirty="0"/>
          </a:p>
        </p:txBody>
      </p:sp>
      <p:sp>
        <p:nvSpPr>
          <p:cNvPr id="25" name="Text 21"/>
          <p:cNvSpPr/>
          <p:nvPr/>
        </p:nvSpPr>
        <p:spPr>
          <a:xfrm>
            <a:off x="6067388" y="2072804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Almeida; Carolina Gonçalves dos Santos.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400050" y="2354759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G4</a:t>
            </a:r>
            <a:endParaRPr lang="en-US" sz="550" dirty="0"/>
          </a:p>
        </p:txBody>
      </p:sp>
      <p:sp>
        <p:nvSpPr>
          <p:cNvPr id="27" name="Text 23"/>
          <p:cNvSpPr/>
          <p:nvPr/>
        </p:nvSpPr>
        <p:spPr>
          <a:xfrm>
            <a:off x="400050" y="2461915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 marítimo mundial</a:t>
            </a:r>
            <a:endParaRPr lang="en-US" sz="550" dirty="0"/>
          </a:p>
        </p:txBody>
      </p:sp>
      <p:sp>
        <p:nvSpPr>
          <p:cNvPr id="28" name="Text 24"/>
          <p:cNvSpPr/>
          <p:nvPr/>
        </p:nvSpPr>
        <p:spPr>
          <a:xfrm>
            <a:off x="400050" y="2588772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Luiz Felipe Assis; Floriano Carlos Martins Pires Jr.</a:t>
            </a:r>
            <a:endParaRPr lang="en-US" sz="500" dirty="0"/>
          </a:p>
        </p:txBody>
      </p:sp>
      <p:sp>
        <p:nvSpPr>
          <p:cNvPr id="29" name="Text 25"/>
          <p:cNvSpPr/>
          <p:nvPr/>
        </p:nvSpPr>
        <p:spPr>
          <a:xfrm>
            <a:off x="3233719" y="2354759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G5</a:t>
            </a:r>
            <a:endParaRPr lang="en-US" sz="550" dirty="0"/>
          </a:p>
        </p:txBody>
      </p:sp>
      <p:sp>
        <p:nvSpPr>
          <p:cNvPr id="30" name="Text 26"/>
          <p:cNvSpPr/>
          <p:nvPr/>
        </p:nvSpPr>
        <p:spPr>
          <a:xfrm>
            <a:off x="3233719" y="2461915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Fundo da Marinha Mercante</a:t>
            </a:r>
            <a:endParaRPr lang="en-US" sz="550" dirty="0"/>
          </a:p>
        </p:txBody>
      </p:sp>
      <p:sp>
        <p:nvSpPr>
          <p:cNvPr id="31" name="Text 27"/>
          <p:cNvSpPr/>
          <p:nvPr/>
        </p:nvSpPr>
        <p:spPr>
          <a:xfrm>
            <a:off x="3233719" y="2588772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 Bernardes Cozzolino do Nascimento.</a:t>
            </a:r>
            <a:endParaRPr lang="en-US" sz="500" dirty="0"/>
          </a:p>
        </p:txBody>
      </p:sp>
      <p:sp>
        <p:nvSpPr>
          <p:cNvPr id="32" name="Text 28"/>
          <p:cNvSpPr/>
          <p:nvPr/>
        </p:nvSpPr>
        <p:spPr>
          <a:xfrm>
            <a:off x="6067388" y="2354759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G6</a:t>
            </a:r>
            <a:endParaRPr lang="en-US" sz="550" dirty="0"/>
          </a:p>
        </p:txBody>
      </p:sp>
      <p:sp>
        <p:nvSpPr>
          <p:cNvPr id="33" name="Text 29"/>
          <p:cNvSpPr/>
          <p:nvPr/>
        </p:nvSpPr>
        <p:spPr>
          <a:xfrm>
            <a:off x="6067388" y="2461915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</a:t>
            </a:r>
            <a:endParaRPr lang="en-US" sz="550" dirty="0"/>
          </a:p>
        </p:txBody>
      </p:sp>
      <p:sp>
        <p:nvSpPr>
          <p:cNvPr id="34" name="Text 30"/>
          <p:cNvSpPr/>
          <p:nvPr/>
        </p:nvSpPr>
        <p:spPr>
          <a:xfrm>
            <a:off x="6067388" y="2588772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Marcelo Igor Lourenço de Souza.</a:t>
            </a:r>
            <a:endParaRPr lang="en-US" sz="500" dirty="0"/>
          </a:p>
        </p:txBody>
      </p:sp>
      <p:sp>
        <p:nvSpPr>
          <p:cNvPr id="35" name="Text 31"/>
          <p:cNvSpPr/>
          <p:nvPr/>
        </p:nvSpPr>
        <p:spPr>
          <a:xfrm>
            <a:off x="400050" y="2990552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G7</a:t>
            </a:r>
            <a:endParaRPr lang="en-US" sz="550" dirty="0"/>
          </a:p>
        </p:txBody>
      </p:sp>
      <p:sp>
        <p:nvSpPr>
          <p:cNvPr id="36" name="Text 32"/>
          <p:cNvSpPr/>
          <p:nvPr/>
        </p:nvSpPr>
        <p:spPr>
          <a:xfrm>
            <a:off x="400050" y="3097709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Fluvial: transporte e construção</a:t>
            </a:r>
            <a:endParaRPr lang="en-US" sz="550" dirty="0"/>
          </a:p>
        </p:txBody>
      </p:sp>
      <p:sp>
        <p:nvSpPr>
          <p:cNvPr id="37" name="Text 33"/>
          <p:cNvSpPr/>
          <p:nvPr/>
        </p:nvSpPr>
        <p:spPr>
          <a:xfrm>
            <a:off x="400050" y="3224566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Carlos Daher Padovezi; Pedro Igor Dias Lameira; André Mitsuo Kogishi; Hito Braga de</a:t>
            </a:r>
            <a:endParaRPr lang="en-US" sz="500" dirty="0"/>
          </a:p>
        </p:txBody>
      </p:sp>
      <p:sp>
        <p:nvSpPr>
          <p:cNvPr id="38" name="Text 34"/>
          <p:cNvSpPr/>
          <p:nvPr/>
        </p:nvSpPr>
        <p:spPr>
          <a:xfrm>
            <a:off x="400050" y="3344391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Moraes; Nelio Moura de Figueiredo; Emmanuel Loureiro.</a:t>
            </a:r>
            <a:endParaRPr lang="en-US" sz="500" dirty="0"/>
          </a:p>
        </p:txBody>
      </p:sp>
      <p:sp>
        <p:nvSpPr>
          <p:cNvPr id="39" name="Text 35"/>
          <p:cNvSpPr/>
          <p:nvPr/>
        </p:nvSpPr>
        <p:spPr>
          <a:xfrm>
            <a:off x="3233719" y="2990552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G8</a:t>
            </a:r>
            <a:endParaRPr lang="en-US" sz="550" dirty="0"/>
          </a:p>
        </p:txBody>
      </p:sp>
      <p:sp>
        <p:nvSpPr>
          <p:cNvPr id="40" name="Text 36"/>
          <p:cNvSpPr/>
          <p:nvPr/>
        </p:nvSpPr>
        <p:spPr>
          <a:xfrm>
            <a:off x="3233719" y="3097709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Descarbonização</a:t>
            </a:r>
            <a:endParaRPr lang="en-US" sz="550" dirty="0"/>
          </a:p>
        </p:txBody>
      </p:sp>
      <p:sp>
        <p:nvSpPr>
          <p:cNvPr id="41" name="Text 37"/>
          <p:cNvSpPr/>
          <p:nvPr/>
        </p:nvSpPr>
        <p:spPr>
          <a:xfrm>
            <a:off x="3233719" y="3224566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Jean David Job Emmanuel Marie Caprace; Luiz Antônio Vaz Pinto; Crístofer Hood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3233719" y="3344391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Marques.</a:t>
            </a:r>
            <a:endParaRPr lang="en-US" sz="500" dirty="0"/>
          </a:p>
        </p:txBody>
      </p:sp>
      <p:sp>
        <p:nvSpPr>
          <p:cNvPr id="43" name="Text 39"/>
          <p:cNvSpPr/>
          <p:nvPr/>
        </p:nvSpPr>
        <p:spPr>
          <a:xfrm>
            <a:off x="6067388" y="2990552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G9</a:t>
            </a:r>
            <a:endParaRPr lang="en-US" sz="550" dirty="0"/>
          </a:p>
        </p:txBody>
      </p:sp>
      <p:sp>
        <p:nvSpPr>
          <p:cNvPr id="44" name="Text 40"/>
          <p:cNvSpPr/>
          <p:nvPr/>
        </p:nvSpPr>
        <p:spPr>
          <a:xfrm>
            <a:off x="6067388" y="3097709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Construção militar</a:t>
            </a:r>
            <a:endParaRPr lang="en-US" sz="550" dirty="0"/>
          </a:p>
        </p:txBody>
      </p:sp>
      <p:sp>
        <p:nvSpPr>
          <p:cNvPr id="45" name="Text 41"/>
          <p:cNvSpPr/>
          <p:nvPr/>
        </p:nvSpPr>
        <p:spPr>
          <a:xfrm>
            <a:off x="6067388" y="3224566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Andre Ricardo Mendonça Pinheiro.</a:t>
            </a:r>
            <a:endParaRPr lang="en-US" sz="500" dirty="0"/>
          </a:p>
        </p:txBody>
      </p:sp>
      <p:sp>
        <p:nvSpPr>
          <p:cNvPr id="46" name="Text 42"/>
          <p:cNvSpPr/>
          <p:nvPr/>
        </p:nvSpPr>
        <p:spPr>
          <a:xfrm>
            <a:off x="400050" y="3626346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G10</a:t>
            </a:r>
            <a:endParaRPr lang="en-US" sz="550" dirty="0"/>
          </a:p>
        </p:txBody>
      </p:sp>
      <p:sp>
        <p:nvSpPr>
          <p:cNvPr id="47" name="Text 43"/>
          <p:cNvSpPr/>
          <p:nvPr/>
        </p:nvSpPr>
        <p:spPr>
          <a:xfrm>
            <a:off x="400050" y="3733502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Construção naval mundial e análise econômica</a:t>
            </a:r>
            <a:endParaRPr lang="en-US" sz="550" dirty="0"/>
          </a:p>
        </p:txBody>
      </p:sp>
      <p:sp>
        <p:nvSpPr>
          <p:cNvPr id="48" name="Text 44"/>
          <p:cNvSpPr/>
          <p:nvPr/>
        </p:nvSpPr>
        <p:spPr>
          <a:xfrm>
            <a:off x="400050" y="3860360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Cassiano Marins de Souza; Floriano Carlos Martins Pires Jr.</a:t>
            </a:r>
            <a:endParaRPr lang="en-US" sz="500" dirty="0"/>
          </a:p>
        </p:txBody>
      </p:sp>
      <p:sp>
        <p:nvSpPr>
          <p:cNvPr id="49" name="Text 45"/>
          <p:cNvSpPr/>
          <p:nvPr/>
        </p:nvSpPr>
        <p:spPr>
          <a:xfrm>
            <a:off x="3233719" y="3626346"/>
            <a:ext cx="26765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B687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G11</a:t>
            </a:r>
            <a:endParaRPr lang="en-US" sz="550" dirty="0"/>
          </a:p>
        </p:txBody>
      </p:sp>
      <p:sp>
        <p:nvSpPr>
          <p:cNvPr id="50" name="Text 46"/>
          <p:cNvSpPr/>
          <p:nvPr/>
        </p:nvSpPr>
        <p:spPr>
          <a:xfrm>
            <a:off x="3233719" y="3733502"/>
            <a:ext cx="2676506" cy="911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Construção naval no Brasil</a:t>
            </a:r>
            <a:endParaRPr lang="en-US" sz="550" dirty="0"/>
          </a:p>
        </p:txBody>
      </p:sp>
      <p:sp>
        <p:nvSpPr>
          <p:cNvPr id="51" name="Text 47"/>
          <p:cNvSpPr/>
          <p:nvPr/>
        </p:nvSpPr>
        <p:spPr>
          <a:xfrm>
            <a:off x="3233719" y="3860360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Marta Cecilia Tapia Reyes; Marcos Pereira; João Candido Gonçalves da Silva; Sergio</a:t>
            </a:r>
            <a:endParaRPr lang="en-US" sz="500" dirty="0"/>
          </a:p>
        </p:txBody>
      </p:sp>
      <p:sp>
        <p:nvSpPr>
          <p:cNvPr id="52" name="Text 48"/>
          <p:cNvSpPr/>
          <p:nvPr/>
        </p:nvSpPr>
        <p:spPr>
          <a:xfrm>
            <a:off x="3233719" y="3980185"/>
            <a:ext cx="2676506" cy="84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5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Lamarca Leite.</a:t>
            </a:r>
            <a:endParaRPr lang="en-US" sz="500" dirty="0"/>
          </a:p>
        </p:txBody>
      </p:sp>
      <p:sp>
        <p:nvSpPr>
          <p:cNvPr id="53" name="Shape 49"/>
          <p:cNvSpPr/>
          <p:nvPr/>
        </p:nvSpPr>
        <p:spPr>
          <a:xfrm>
            <a:off x="0" y="4186238"/>
            <a:ext cx="9144000" cy="957263"/>
          </a:xfrm>
          <a:prstGeom prst="rect">
            <a:avLst/>
          </a:prstGeom>
          <a:solidFill>
            <a:srgbClr val="E7EEEB"/>
          </a:solidFill>
          <a:ln/>
        </p:spPr>
      </p:sp>
      <p:sp>
        <p:nvSpPr>
          <p:cNvPr id="54" name="Shape 50"/>
          <p:cNvSpPr/>
          <p:nvPr/>
        </p:nvSpPr>
        <p:spPr>
          <a:xfrm>
            <a:off x="0" y="4186238"/>
            <a:ext cx="9144000" cy="7144"/>
          </a:xfrm>
          <a:prstGeom prst="rect">
            <a:avLst/>
          </a:prstGeom>
          <a:solidFill>
            <a:srgbClr val="B9CDCA"/>
          </a:solidFill>
          <a:ln/>
        </p:spPr>
      </p:sp>
      <p:sp>
        <p:nvSpPr>
          <p:cNvPr id="55" name="Text 51"/>
          <p:cNvSpPr/>
          <p:nvPr/>
        </p:nvSpPr>
        <p:spPr>
          <a:xfrm>
            <a:off x="400050" y="4549508"/>
            <a:ext cx="584068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123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 etapa no Portal Naval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400050" y="4764491"/>
            <a:ext cx="584068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426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cada seção, confirmar o executor, o revisor independente, o prazo e as interfaces que precisam de tratamento.</a:t>
            </a:r>
            <a:endParaRPr lang="en-US" sz="600" dirty="0"/>
          </a:p>
        </p:txBody>
      </p:sp>
      <p:sp>
        <p:nvSpPr>
          <p:cNvPr id="57" name="Text 53"/>
          <p:cNvSpPr/>
          <p:nvPr/>
        </p:nvSpPr>
        <p:spPr>
          <a:xfrm>
            <a:off x="6362179" y="4548615"/>
            <a:ext cx="2381771" cy="1036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550" b="1" dirty="0">
                <a:solidFill>
                  <a:srgbClr val="123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Primeiro acesso</a:t>
            </a:r>
            <a:endParaRPr lang="en-US" sz="550" dirty="0"/>
          </a:p>
        </p:txBody>
      </p:sp>
      <p:sp>
        <p:nvSpPr>
          <p:cNvPr id="58" name="Text 54"/>
          <p:cNvSpPr/>
          <p:nvPr/>
        </p:nvSpPr>
        <p:spPr>
          <a:xfrm>
            <a:off x="6362179" y="4680886"/>
            <a:ext cx="229744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550" dirty="0">
                <a:solidFill>
                  <a:srgbClr val="3D5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 com o e-mail previamente cadastrado pela administração e</a:t>
            </a:r>
            <a:endParaRPr lang="en-US" sz="550" dirty="0"/>
          </a:p>
        </p:txBody>
      </p:sp>
      <p:sp>
        <p:nvSpPr>
          <p:cNvPr id="59" name="Text 55"/>
          <p:cNvSpPr/>
          <p:nvPr/>
        </p:nvSpPr>
        <p:spPr>
          <a:xfrm>
            <a:off x="6362179" y="4784582"/>
            <a:ext cx="843018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550" dirty="0">
                <a:solidFill>
                  <a:srgbClr val="3D5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conferir o perfil liberado.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2026-09-01T01:26:07Z</dcterms:created>
  <dcterms:modified xsi:type="dcterms:W3CDTF">2026-09-01T01:26:07Z</dcterms:modified>
</cp:coreProperties>
</file>