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9" r:id="rId3"/>
    <p:sldId id="270" r:id="rId4"/>
    <p:sldId id="261" r:id="rId5"/>
    <p:sldId id="266" r:id="rId6"/>
    <p:sldId id="267" r:id="rId7"/>
    <p:sldId id="268" r:id="rId8"/>
    <p:sldId id="271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3852"/>
    <a:srgbClr val="C0C0C0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792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A8D3786-EDAF-0FAC-FB62-C48F563759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86904" cy="103151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166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A8D3786-EDAF-0FAC-FB62-C48F563759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86904" cy="103151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001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A8D3786-EDAF-0FAC-FB62-C48F563759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86904" cy="103151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1577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59039-9A7B-E83F-F32F-51F45CC77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EEBD54-3A79-4A07-394A-238806007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75DAEE-EEE7-2B76-03EF-AAA3C49AE6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BDCBBA-A5F5-4CED-AC53-A185F67C1720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623039-A17B-7C8F-2670-F354C92DB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3E3AEB-05D8-666E-1CD9-EFB0A23F0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B5822D-6C48-4BC3-AA29-8D211C35BD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007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A88F6-6191-C517-AA5E-B258813E4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3DCF5C-DDCC-F5FE-6E5E-F4A3633B2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C62C1-373B-3A68-F8C7-74B8AA5D4D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BDCBBA-A5F5-4CED-AC53-A185F67C1720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4B65CB-FD29-67DC-0F44-0E66F6155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BA0A82-7769-316E-2C5E-109E1B004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B5822D-6C48-4BC3-AA29-8D211C35BD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574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EFFC4-EFEE-27D4-2683-D99BE0C1F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0B5BCF-65FA-A3F8-AE0F-17C5CEEBF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F619F6-7CB4-D869-2FB9-F744D4121A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BDCBBA-A5F5-4CED-AC53-A185F67C1720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BCCBC-523E-0848-4A4B-114BD4548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09E65F-EAB0-5429-F111-3BE48B7A8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B5822D-6C48-4BC3-AA29-8D211C35BD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5210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A1EB8-EB93-C215-4182-2359A9141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87F87E-B5D1-DE19-B1F4-02D0248B94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3CFBE-5AAA-B815-DC55-9A230AE01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A05727-5CC7-D0A0-5941-13A44F473F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BDCBBA-A5F5-4CED-AC53-A185F67C1720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5C1A14-2443-5A7D-4A5D-91E7B81DD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804C48-1818-D3D6-C06D-D8C4E8D8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B5822D-6C48-4BC3-AA29-8D211C35BD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1486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F21F6-347A-2F44-26D1-DD6951BC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AC5691-D240-470E-03D1-83D63688D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BB2A4B-687E-9EED-E523-B002D7ECF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970B382-4783-FCF8-E434-A085AE0BBB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CF1E668-3C16-703A-161E-370FA14AA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4E6FEA-AD0A-D2B7-9829-B34A8555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BDCBBA-A5F5-4CED-AC53-A185F67C1720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76A2AA-812F-DC57-0DEF-29EC7167E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037EE2C-6B1C-9CC6-94AB-F71616051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B5822D-6C48-4BC3-AA29-8D211C35BD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942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A4353-3601-AD06-CF30-D2943A92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B2DBB65-C38B-2EC4-5036-316B8716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BDCBBA-A5F5-4CED-AC53-A185F67C1720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300B4CF-2E60-23FC-0245-45F618E29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5E89D3C-20DC-7BD0-8F41-D54EEA042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B5822D-6C48-4BC3-AA29-8D211C35BD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8067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FE3F075-7E0C-019C-CB57-713FABE4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BDCBBA-A5F5-4CED-AC53-A185F67C1720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075DFEF-1987-B519-D224-1A513B4E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49C167-5FE9-15EF-44FC-0E5EC000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B5822D-6C48-4BC3-AA29-8D211C35BD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813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3C9E2D-2052-8F23-DB93-F4175D0B3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E41E53-D0CB-BF51-CFE3-995C8EA95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D356F29-C33E-AB90-2CD9-CC7AAB743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C911C8-9A9F-21DA-97B5-083D8762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BDCBBA-A5F5-4CED-AC53-A185F67C1720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9E2615-FB08-0801-DB36-5D3B58BF8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06B45F-EF40-A060-F7AD-84B8404D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B5822D-6C48-4BC3-AA29-8D211C35BD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6485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417568-C75C-0699-BB1B-AA436C6A2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6716146-39A6-439F-12A5-C142169CB1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45DE1E-ADDB-17F5-D97C-CE99251FD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ADFD61-EC7B-F556-38F6-7A38A4534D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BDCBBA-A5F5-4CED-AC53-A185F67C1720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52A946-4927-E5C7-B288-B2DD3BB7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FA1E68-0B83-1DF6-DF5F-5B49E5E8D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B5822D-6C48-4BC3-AA29-8D211C35BD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903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D0210-5B5F-49DA-726B-CF59712F7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0701AE4-3622-9815-97F4-22D005414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A44DE7-E6B6-FDF0-B976-F5F1F11422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BDCBBA-A5F5-4CED-AC53-A185F67C1720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D68F1A-023D-00D8-EBEB-5C7565A49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4C3271-79CE-96F3-E82F-CAB8852D9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B5822D-6C48-4BC3-AA29-8D211C35BD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858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3AB1456-B75C-BAAE-7F1F-9FDABAB6F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23A664-F524-B756-6B34-716AF720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647573-D1B4-BA88-3B11-AE0B6C6A91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BBDCBBA-A5F5-4CED-AC53-A185F67C1720}" type="datetimeFigureOut">
              <a:rPr lang="pt-BR" smtClean="0"/>
              <a:t>29/08/2026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0727E5-DCD4-3E28-BD75-DB123E0FC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9DD475-C8DA-75E1-34E8-99750B7DD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B5822D-6C48-4BC3-AA29-8D211C35BD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5904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39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0" r:id="rId3"/>
    <p:sldLayoutId id="2147483650" r:id="rId4"/>
    <p:sldLayoutId id="2147483649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2-PRODUTOS.pdf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tividades-Grupos.xlsm" TargetMode="External"/><Relationship Id="rId2" Type="http://schemas.openxmlformats.org/officeDocument/2006/relationships/hyperlink" Target="Cronograma-R1-e-R2-26_agosto.xlsm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AAD1EBC-16E2-C740-7B5F-13D78E3CDC67}"/>
              </a:ext>
            </a:extLst>
          </p:cNvPr>
          <p:cNvSpPr txBox="1"/>
          <p:nvPr/>
        </p:nvSpPr>
        <p:spPr>
          <a:xfrm>
            <a:off x="1016000" y="1697684"/>
            <a:ext cx="10058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0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Oportunidades da Descarbonização e da Transição Energética para a</a:t>
            </a:r>
          </a:p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Reestruturação da Indústria Naval</a:t>
            </a:r>
          </a:p>
        </p:txBody>
      </p:sp>
    </p:spTree>
    <p:extLst>
      <p:ext uri="{BB962C8B-B14F-4D97-AF65-F5344CB8AC3E}">
        <p14:creationId xmlns:p14="http://schemas.microsoft.com/office/powerpoint/2010/main" val="148947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9AEEF79-330D-A22C-F599-04FFCF593894}"/>
              </a:ext>
            </a:extLst>
          </p:cNvPr>
          <p:cNvSpPr txBox="1"/>
          <p:nvPr/>
        </p:nvSpPr>
        <p:spPr>
          <a:xfrm>
            <a:off x="4280454" y="314095"/>
            <a:ext cx="39955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32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pt-BR" sz="4000" dirty="0"/>
              <a:t>Equipe</a:t>
            </a:r>
          </a:p>
          <a:p>
            <a:endParaRPr lang="pt-BR" sz="40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4668246-689E-C3AA-732F-E91295A3D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820" y="1238574"/>
            <a:ext cx="4497788" cy="4917706"/>
          </a:xfrm>
          <a:prstGeom prst="rect">
            <a:avLst/>
          </a:prstGeom>
          <a:solidFill>
            <a:srgbClr val="FFC000"/>
          </a:solidFill>
          <a:ln w="28575">
            <a:solidFill>
              <a:srgbClr val="743852"/>
            </a:solidFill>
          </a:ln>
        </p:spPr>
      </p:pic>
    </p:spTree>
    <p:extLst>
      <p:ext uri="{BB962C8B-B14F-4D97-AF65-F5344CB8AC3E}">
        <p14:creationId xmlns:p14="http://schemas.microsoft.com/office/powerpoint/2010/main" val="1277064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3CD9420-A466-2D0C-3BCC-955D2943B0D4}"/>
              </a:ext>
            </a:extLst>
          </p:cNvPr>
          <p:cNvSpPr txBox="1"/>
          <p:nvPr/>
        </p:nvSpPr>
        <p:spPr>
          <a:xfrm>
            <a:off x="3859696" y="111650"/>
            <a:ext cx="4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0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pt-BR" dirty="0"/>
              <a:t>Grupos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C0AC3C-CFD3-0285-9E8C-0E412E85F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747" y="974528"/>
            <a:ext cx="5772249" cy="517596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95D75F5-2BFF-4060-4CB2-227732519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4528"/>
            <a:ext cx="6436747" cy="577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49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312B7-0F91-2CE1-A847-9206998DA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8676ED5-2E1E-9E07-7688-D7DBB7818C8C}"/>
              </a:ext>
            </a:extLst>
          </p:cNvPr>
          <p:cNvSpPr txBox="1"/>
          <p:nvPr/>
        </p:nvSpPr>
        <p:spPr>
          <a:xfrm>
            <a:off x="1618420" y="1709555"/>
            <a:ext cx="8955157" cy="3877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just">
              <a:spcBef>
                <a:spcPts val="600"/>
              </a:spcBef>
              <a:buFont typeface="Wingdings" panose="05000000000000000000" pitchFamily="2" charset="2"/>
              <a:buChar char=""/>
            </a:pPr>
            <a:r>
              <a:rPr lang="pt-BR" sz="2400" b="1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Plataforma Digital Interativa</a:t>
            </a:r>
            <a:endParaRPr lang="pt-BR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600"/>
              </a:spcBef>
              <a:buFont typeface="Wingdings" panose="05000000000000000000" pitchFamily="2" charset="2"/>
              <a:buChar char=""/>
            </a:pPr>
            <a:r>
              <a:rPr lang="pt-BR" sz="2400" b="1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Banco de Dados</a:t>
            </a:r>
            <a:endParaRPr lang="pt-BR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600"/>
              </a:spcBef>
              <a:buFont typeface="Wingdings" panose="05000000000000000000" pitchFamily="2" charset="2"/>
              <a:buChar char=""/>
            </a:pPr>
            <a:r>
              <a:rPr lang="pt-BR" sz="2400" b="1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Relatório de Diagnóstico</a:t>
            </a:r>
            <a:endParaRPr lang="pt-BR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600"/>
              </a:spcBef>
              <a:buFont typeface="Wingdings" panose="05000000000000000000" pitchFamily="2" charset="2"/>
              <a:buChar char=""/>
            </a:pPr>
            <a:r>
              <a:rPr lang="pt-BR" sz="2400" b="1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Relatório de </a:t>
            </a:r>
            <a:r>
              <a:rPr lang="pt-BR" sz="24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Proposta de Estratégias de Desenvolvimento e Instrumentos de Política Setorial e Plano de Ação</a:t>
            </a:r>
            <a:endParaRPr lang="pt-BR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600"/>
              </a:spcBef>
              <a:buFont typeface="Wingdings" panose="05000000000000000000" pitchFamily="2" charset="2"/>
              <a:buChar char=""/>
            </a:pPr>
            <a:r>
              <a:rPr lang="pt-BR" sz="2400" b="1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Sumário Executivo</a:t>
            </a:r>
            <a:endParaRPr lang="pt-BR" sz="20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spcBef>
                <a:spcPts val="600"/>
              </a:spcBef>
              <a:buFont typeface="Wingdings" panose="05000000000000000000" pitchFamily="2" charset="2"/>
              <a:buChar char=""/>
            </a:pPr>
            <a:r>
              <a:rPr lang="pt-BR" sz="2400" b="1" kern="1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Seminários Técnicos e Seminário Final Público</a:t>
            </a:r>
          </a:p>
          <a:p>
            <a:pPr marL="742950" lvl="1" indent="-285750" algn="just">
              <a:spcBef>
                <a:spcPts val="600"/>
              </a:spcBef>
              <a:buFont typeface="Wingdings" panose="05000000000000000000" pitchFamily="2" charset="2"/>
              <a:buChar char=""/>
            </a:pPr>
            <a:r>
              <a:rPr lang="pt-BR" sz="2400" b="1" dirty="0">
                <a:effectLst/>
                <a:ea typeface="Times New Roman" panose="02020603050405020304" pitchFamily="18" charset="0"/>
              </a:rPr>
              <a:t>Produção Audiovisual</a:t>
            </a:r>
            <a:endParaRPr lang="pt-BR" sz="2400" dirty="0"/>
          </a:p>
          <a:p>
            <a:pPr marL="742950" lvl="1" indent="-285750" algn="just">
              <a:lnSpc>
                <a:spcPct val="107000"/>
              </a:lnSpc>
              <a:spcBef>
                <a:spcPts val="1200"/>
              </a:spcBef>
              <a:buFont typeface="Wingdings" panose="05000000000000000000" pitchFamily="2" charset="2"/>
              <a:buChar char=""/>
            </a:pPr>
            <a:endParaRPr lang="pt-BR" sz="1400" b="1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C6A6C00-FF0B-6D51-D73B-1E91E7555727}"/>
              </a:ext>
            </a:extLst>
          </p:cNvPr>
          <p:cNvSpPr txBox="1"/>
          <p:nvPr/>
        </p:nvSpPr>
        <p:spPr>
          <a:xfrm>
            <a:off x="3183834" y="752910"/>
            <a:ext cx="5824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32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pt-BR" dirty="0">
                <a:hlinkClick r:id="rId2" action="ppaction://hlinkfile"/>
              </a:rPr>
              <a:t>PRODUTOS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887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33DCEC7-FEE0-0DCB-75F3-42E8E2DC0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291" y="1021846"/>
            <a:ext cx="8810056" cy="569298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743852"/>
            </a:solidFill>
          </a:ln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B387A04-C584-DB06-0236-9630D3A96BBF}"/>
              </a:ext>
            </a:extLst>
          </p:cNvPr>
          <p:cNvSpPr txBox="1"/>
          <p:nvPr/>
        </p:nvSpPr>
        <p:spPr>
          <a:xfrm>
            <a:off x="3183835" y="143165"/>
            <a:ext cx="5824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32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pt-BR" dirty="0"/>
              <a:t>CRONOGRAMA GERAL</a:t>
            </a:r>
          </a:p>
        </p:txBody>
      </p:sp>
    </p:spTree>
    <p:extLst>
      <p:ext uri="{BB962C8B-B14F-4D97-AF65-F5344CB8AC3E}">
        <p14:creationId xmlns:p14="http://schemas.microsoft.com/office/powerpoint/2010/main" val="2381003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0DDDEAD-AC8C-9C5C-EDC0-3A35C39E1733}"/>
              </a:ext>
            </a:extLst>
          </p:cNvPr>
          <p:cNvSpPr txBox="1"/>
          <p:nvPr/>
        </p:nvSpPr>
        <p:spPr>
          <a:xfrm>
            <a:off x="410215" y="1703051"/>
            <a:ext cx="117817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32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pt-BR" dirty="0">
                <a:hlinkClick r:id="rId2" action="ppaction://hlinkfile"/>
              </a:rPr>
              <a:t>Cronograma Relatório 1</a:t>
            </a:r>
            <a:endParaRPr lang="pt-BR" dirty="0"/>
          </a:p>
          <a:p>
            <a:pPr marL="457200" indent="-457200" algn="l">
              <a:buFont typeface="Wingdings" panose="05000000000000000000" pitchFamily="2" charset="2"/>
              <a:buChar char="Ø"/>
            </a:pPr>
            <a:endParaRPr lang="pt-BR" dirty="0"/>
          </a:p>
          <a:p>
            <a:pPr marL="457200" indent="-457200" algn="l">
              <a:buFont typeface="Wingdings" panose="05000000000000000000" pitchFamily="2" charset="2"/>
              <a:buChar char="Ø"/>
            </a:pPr>
            <a:endParaRPr lang="pt-BR" dirty="0"/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pt-BR" dirty="0">
                <a:hlinkClick r:id="rId3" action="ppaction://hlinkfile"/>
              </a:rPr>
              <a:t>Distribuição de Atividades </a:t>
            </a:r>
            <a:r>
              <a:rPr lang="pt-BR" sz="2000" dirty="0">
                <a:hlinkClick r:id="rId3" action="ppaction://hlinkfile"/>
              </a:rPr>
              <a:t>-</a:t>
            </a:r>
            <a:r>
              <a:rPr lang="pt-BR" dirty="0">
                <a:hlinkClick r:id="rId3" action="ppaction://hlinkfile"/>
              </a:rPr>
              <a:t> </a:t>
            </a:r>
            <a:r>
              <a:rPr lang="pt-BR" sz="2000" dirty="0">
                <a:hlinkClick r:id="rId3" action="ppaction://hlinkfile"/>
              </a:rPr>
              <a:t>versão preliminar para discussão</a:t>
            </a:r>
            <a:endParaRPr lang="pt-BR" sz="2000" dirty="0"/>
          </a:p>
          <a:p>
            <a:pPr marL="457200" indent="-457200" algn="l"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2875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5E63AA92-9ECB-A0A2-AE85-640C2441F926}"/>
              </a:ext>
            </a:extLst>
          </p:cNvPr>
          <p:cNvSpPr txBox="1"/>
          <p:nvPr/>
        </p:nvSpPr>
        <p:spPr>
          <a:xfrm>
            <a:off x="2800062" y="601079"/>
            <a:ext cx="52363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32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pt-BR" dirty="0"/>
              <a:t>ATIVIDADES DO RELAGÓRIO 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78E439D-C127-FF2F-8699-9C02F618EA4D}"/>
              </a:ext>
            </a:extLst>
          </p:cNvPr>
          <p:cNvSpPr txBox="1"/>
          <p:nvPr/>
        </p:nvSpPr>
        <p:spPr>
          <a:xfrm>
            <a:off x="421786" y="1375273"/>
            <a:ext cx="1134842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As datas do cronograma são de entrega final. A entrega pelo(s) executor (es) deverá ser 15 dias antes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15 dias = 2 Revisor seção + 2 Editor capítulo + 2 Revisor capítulo + 2 Editor Tomo + 2 editoração + 5 Eventuais ajustes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t-BR" dirty="0"/>
              <a:t>Versão preliminar, para discussão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03746D43-A844-A517-875E-74784B92EFDC}"/>
              </a:ext>
            </a:extLst>
          </p:cNvPr>
          <p:cNvSpPr txBox="1"/>
          <p:nvPr/>
        </p:nvSpPr>
        <p:spPr>
          <a:xfrm>
            <a:off x="421786" y="3912344"/>
            <a:ext cx="1173096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 marL="285750" indent="-285750">
              <a:buFont typeface="Wingdings" panose="05000000000000000000" pitchFamily="2" charset="2"/>
              <a:buChar char="Ø"/>
              <a:defRPr/>
            </a:lvl1pPr>
          </a:lstStyle>
          <a:p>
            <a:r>
              <a:rPr lang="pt-BR" dirty="0"/>
              <a:t>Reuniões da coordenação com os Grupos: 02/09 a 09/09 - Denise vai agendar </a:t>
            </a:r>
            <a:r>
              <a:rPr lang="pt-BR" sz="1600" dirty="0"/>
              <a:t>– pode reunir mais de um, quando conveniente</a:t>
            </a:r>
          </a:p>
          <a:p>
            <a:endParaRPr lang="pt-BR" sz="1600" dirty="0"/>
          </a:p>
          <a:p>
            <a:r>
              <a:rPr lang="pt-BR" dirty="0"/>
              <a:t>Reuniões entre os Grupos podem ser adiantadas sem a participação da coordenação</a:t>
            </a:r>
          </a:p>
          <a:p>
            <a:endParaRPr lang="pt-BR" dirty="0"/>
          </a:p>
          <a:p>
            <a:r>
              <a:rPr lang="pt-BR" dirty="0"/>
              <a:t>Reunião com BNDES para apresentação da equipe – BNDES está marcando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1E07A01-1C07-B227-BFD0-E0211B6659A8}"/>
              </a:ext>
            </a:extLst>
          </p:cNvPr>
          <p:cNvSpPr txBox="1"/>
          <p:nvPr/>
        </p:nvSpPr>
        <p:spPr>
          <a:xfrm>
            <a:off x="3454876" y="3190698"/>
            <a:ext cx="36463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32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pt-BR" dirty="0"/>
              <a:t>Agenda de Reuniões</a:t>
            </a:r>
          </a:p>
        </p:txBody>
      </p:sp>
    </p:spTree>
    <p:extLst>
      <p:ext uri="{BB962C8B-B14F-4D97-AF65-F5344CB8AC3E}">
        <p14:creationId xmlns:p14="http://schemas.microsoft.com/office/powerpoint/2010/main" val="2658957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4E13CC6-2509-1A93-801B-65A8D6854476}"/>
              </a:ext>
            </a:extLst>
          </p:cNvPr>
          <p:cNvSpPr txBox="1"/>
          <p:nvPr/>
        </p:nvSpPr>
        <p:spPr>
          <a:xfrm>
            <a:off x="1047290" y="1410634"/>
            <a:ext cx="9722470" cy="43150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Sistema de Gestão de Documentos – Cassiano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Biblioteca do Projeto – Google Drive – Felipe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pt-BR" sz="2000" b="1" dirty="0" err="1">
                <a:solidFill>
                  <a:schemeClr val="accent1">
                    <a:lumMod val="50000"/>
                  </a:schemeClr>
                </a:solidFill>
              </a:rPr>
              <a:t>Templates</a:t>
            </a:r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 texto, figuras e tabelas – Felipe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Protocolo de transferência de todos os dados utilizados para o Banco de Dados </a:t>
            </a:r>
            <a:r>
              <a:rPr lang="pt-BR" sz="2000" b="1">
                <a:solidFill>
                  <a:schemeClr val="accent1">
                    <a:lumMod val="50000"/>
                  </a:schemeClr>
                </a:solidFill>
              </a:rPr>
              <a:t>- Felipe</a:t>
            </a:r>
            <a:endParaRPr lang="pt-BR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pt-BR" sz="2000" b="1" dirty="0">
                <a:solidFill>
                  <a:schemeClr val="accent1">
                    <a:lumMod val="50000"/>
                  </a:schemeClr>
                </a:solidFill>
              </a:rPr>
              <a:t>Procedimentos financeiros – Felipe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pt-BR" sz="20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pt-BR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7F57E9F-E5D3-7ECA-48E3-73D4EA0A297E}"/>
              </a:ext>
            </a:extLst>
          </p:cNvPr>
          <p:cNvSpPr txBox="1"/>
          <p:nvPr/>
        </p:nvSpPr>
        <p:spPr>
          <a:xfrm>
            <a:off x="5004440" y="825859"/>
            <a:ext cx="20082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32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pt-BR" dirty="0"/>
              <a:t>INFORMES</a:t>
            </a:r>
          </a:p>
        </p:txBody>
      </p:sp>
    </p:spTree>
    <p:extLst>
      <p:ext uri="{BB962C8B-B14F-4D97-AF65-F5344CB8AC3E}">
        <p14:creationId xmlns:p14="http://schemas.microsoft.com/office/powerpoint/2010/main" val="19894633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214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Floriano Pires</dc:creator>
  <cp:lastModifiedBy>Floriano Pires</cp:lastModifiedBy>
  <cp:revision>5</cp:revision>
  <dcterms:created xsi:type="dcterms:W3CDTF">2026-08-29T15:17:35Z</dcterms:created>
  <dcterms:modified xsi:type="dcterms:W3CDTF">2026-08-29T22:27:45Z</dcterms:modified>
</cp:coreProperties>
</file>