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514350"/>
            <a:ext cx="481628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BNDES · FEP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46509"/>
            <a:ext cx="4816283" cy="504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3750" b="1" spc="-2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Naval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14350" y="1336272"/>
            <a:ext cx="435768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inicial de testes</a:t>
            </a:r>
            <a:r>
              <a:rPr lang="en-US" sz="13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1 — Indústria Naval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14350" y="4564856"/>
            <a:ext cx="156342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execução do estudo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68509" y="4564856"/>
            <a:ext cx="56212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2026–2027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852127" y="0"/>
            <a:ext cx="3291873" cy="5143500"/>
          </a:xfrm>
          <a:prstGeom prst="rect">
            <a:avLst/>
          </a:prstGeom>
          <a:solidFill>
            <a:srgbClr val="0F292F"/>
          </a:solidFill>
          <a:ln/>
        </p:spPr>
      </p:sp>
      <p:sp>
        <p:nvSpPr>
          <p:cNvPr id="9" name="Text 6"/>
          <p:cNvSpPr/>
          <p:nvPr/>
        </p:nvSpPr>
        <p:spPr>
          <a:xfrm>
            <a:off x="6223602" y="2011412"/>
            <a:ext cx="2548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223602" y="2218581"/>
            <a:ext cx="2548923" cy="837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Preparar a equipe para testar os fluxos prioritários do portal.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23602" y="4332015"/>
            <a:ext cx="2548923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· responsabilidades · interfaces · campo · biblioteca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14338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RODADA CONTROLADA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614363"/>
            <a:ext cx="8115300" cy="40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7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da rodada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14350" y="1512298"/>
            <a:ext cx="314112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63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Testar a operação real do estudo, não apenas a aparência das telas.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14350" y="2223102"/>
            <a:ext cx="2786063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8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rodada inicial confirma se os dados, acessos e fluxos essenciais sustentam o trabalho diário dos grupos antes da ampliação para toda a equipe.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069817" y="1662317"/>
            <a:ext cx="528638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55617" y="1662317"/>
            <a:ext cx="38740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acesso e escopo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5617" y="1880202"/>
            <a:ext cx="387403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que cada perfil visualiza e altera somente o que lhe compete.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069817" y="2505280"/>
            <a:ext cx="528638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5617" y="2505280"/>
            <a:ext cx="38740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 execução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5617" y="2723164"/>
            <a:ext cx="387403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atividades, responsabilidades, cronograma, interfaces, campo e Biblioteca.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069817" y="3348242"/>
            <a:ext cx="52863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5617" y="3348242"/>
            <a:ext cx="38740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evidências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5617" y="3566127"/>
            <a:ext cx="387403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ocorrências em melhorias priorizadas, com página, item, horário e resultado observado.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14350" y="4800600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lista priorizada de bloqueadores e ajustes para a próxima versão.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0050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AMBIENTE DE TESTE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723305"/>
            <a:ext cx="3382287" cy="40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7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portal em números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736431" y="600075"/>
            <a:ext cx="2893219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5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combina a estrutura editorial do Relatório 1 com uma camada operacional de etapas acompanhadas dentro das atividades-mãe.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07231" y="1771259"/>
            <a:ext cx="2324063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15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707231" y="2257704"/>
            <a:ext cx="23240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OFICIAIS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07231" y="2454157"/>
            <a:ext cx="2324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e Tomos I a IV da Estrutura V1.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409913" y="1771259"/>
            <a:ext cx="2324119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15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3409913" y="2257704"/>
            <a:ext cx="23241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ATIVIDADES-MÃE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09913" y="2454157"/>
            <a:ext cx="232411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de coordenação exibidos na lista principal.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112650" y="1771259"/>
            <a:ext cx="2324119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15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286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6112650" y="2257704"/>
            <a:ext cx="23241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DE EXECUÇÃO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12650" y="2454157"/>
            <a:ext cx="232411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Tópicos do capítulo acompanhados dentro das fichas-mãe.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07231" y="3042847"/>
            <a:ext cx="2324063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15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707231" y="3529292"/>
            <a:ext cx="23240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TRABALHO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07231" y="3725745"/>
            <a:ext cx="23240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Coordenação, participantes e escopo técnico organizados.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09913" y="3042847"/>
            <a:ext cx="2324119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15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150" dirty="0"/>
          </a:p>
        </p:txBody>
      </p:sp>
      <p:sp>
        <p:nvSpPr>
          <p:cNvPr id="19" name="Text 16"/>
          <p:cNvSpPr/>
          <p:nvPr/>
        </p:nvSpPr>
        <p:spPr>
          <a:xfrm>
            <a:off x="3409913" y="3529292"/>
            <a:ext cx="23241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CRÍTICAS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09913" y="3725745"/>
            <a:ext cx="232411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 e escopos sobrepostos com evidências auditáveis.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12650" y="3042847"/>
            <a:ext cx="2324119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15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331</a:t>
            </a:r>
            <a:endParaRPr lang="en-US" sz="3150" dirty="0"/>
          </a:p>
        </p:txBody>
      </p:sp>
      <p:sp>
        <p:nvSpPr>
          <p:cNvPr id="22" name="Text 19"/>
          <p:cNvSpPr/>
          <p:nvPr/>
        </p:nvSpPr>
        <p:spPr>
          <a:xfrm>
            <a:off x="6112650" y="3529292"/>
            <a:ext cx="23241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112650" y="3725745"/>
            <a:ext cx="232411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consultável e associado aos fluxos de produção.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4350" y="4343009"/>
            <a:ext cx="1143000" cy="135731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LEITURA-CHAVE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814513" y="4343009"/>
            <a:ext cx="68151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83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São 333 registros de gestão: 47 atividades-mãe que concentram o acompanhamento das 286 etapas de execução.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14350" y="4847034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58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consolidados para a rodada de testes do Portal Naval.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0050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CONTROLE DE ACESSO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115300" cy="393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26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perfil enxerga o que precisa executar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14350" y="1050968"/>
            <a:ext cx="6072188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rodada deve confirmar que o acesso acompanha a responsabilidade, sem abrir dados ou controles fora do escopo de cada integrante.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4350" y="1684530"/>
            <a:ext cx="13573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028825" y="1684530"/>
            <a:ext cx="23812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567200" y="1684530"/>
            <a:ext cx="20002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724613" y="1684530"/>
            <a:ext cx="190498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A VALIDAR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14350" y="2102439"/>
            <a:ext cx="1357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28825" y="2128893"/>
            <a:ext cx="2381213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módulos, itens, grupos e registros.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67200" y="2061363"/>
            <a:ext cx="20002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Equipe, períodos, marcos, interfaces, Biblioteca e configurações.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4613" y="1989032"/>
            <a:ext cx="1904981" cy="433983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sensíveis exigem confirmação; WhatsApp permanece desativado nesta rodada.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4350" y="2731089"/>
            <a:ext cx="1357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Coordenador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028825" y="2680413"/>
            <a:ext cx="23812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Atividades, materiais e interfaces sob sua coordenação.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67200" y="2690013"/>
            <a:ext cx="20002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 execução, define período e marcos, designa revisores.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4613" y="2690013"/>
            <a:ext cx="1904981" cy="289322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altera dados de grupos não envolvidos.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4350" y="3256155"/>
            <a:ext cx="135731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 delegado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028825" y="3309063"/>
            <a:ext cx="23812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atividades com responsabilidade delegada vigente.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67200" y="3318663"/>
            <a:ext cx="20002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ficha, cronograma e material associado.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24613" y="3318663"/>
            <a:ext cx="1904981" cy="289322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altera distribuição, período ou revisores.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4350" y="3991961"/>
            <a:ext cx="13573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Colaborador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028825" y="3941285"/>
            <a:ext cx="23812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e Produção, conforme os vínculos registrados.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567200" y="3950884"/>
            <a:ext cx="20002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referências e participa de revisão quando designado.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4613" y="4023215"/>
            <a:ext cx="1904981" cy="144661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5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acessa áreas administrativas.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4350" y="5029200"/>
            <a:ext cx="3432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esperado: tentar uma ação fora do escopo e confirmar o bloqueio.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406673" y="5029200"/>
            <a:ext cx="12229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Naval · rodada inicial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71475"/>
            <a:ext cx="8143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GESTÃO DE ATIVIDADES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564356"/>
            <a:ext cx="8143875" cy="401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7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atividade-mãe à etapa executada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00063" y="1036960"/>
            <a:ext cx="657225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principal mostra as atividades de coordenação. O acompanhamento dos tópicos do capítulo ocorre dentro da ficha da respectiva atividade-mãe.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14363" y="1795537"/>
            <a:ext cx="18002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14363" y="2259881"/>
            <a:ext cx="18002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Localizar a atividade-mãe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4363" y="2506340"/>
            <a:ext cx="1800225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código, Tomo, grupo, responsável ou estado para abrir a frente coordenada.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14363" y="3089170"/>
            <a:ext cx="913507" cy="14287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650331" y="1795537"/>
            <a:ext cx="18002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650331" y="2259881"/>
            <a:ext cx="18002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as etapas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50331" y="2506340"/>
            <a:ext cx="1800225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ficha, confira cada tópico: código, executor, estado, progresso e prazo.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50331" y="3089170"/>
            <a:ext cx="683065" cy="14287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686300" y="1795537"/>
            <a:ext cx="18002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686300" y="2259881"/>
            <a:ext cx="18002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Atribuir e revisar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86300" y="2506340"/>
            <a:ext cx="1800225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coordenador permanece responsável; executor e revisor podem ser integrantes ativos da equipe.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686300" y="3254871"/>
            <a:ext cx="1217451" cy="14287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722269" y="1795537"/>
            <a:ext cx="18073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722269" y="2259881"/>
            <a:ext cx="18073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evidências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22269" y="2506340"/>
            <a:ext cx="1807369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Vincule materiais, evidências de campo, comentários e decisões de revisão ao trabalho executado.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722269" y="3089170"/>
            <a:ext cx="1076362" cy="14287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500063" y="3533477"/>
            <a:ext cx="8143875" cy="714375"/>
          </a:xfrm>
          <a:prstGeom prst="rect">
            <a:avLst/>
          </a:prstGeom>
          <a:solidFill>
            <a:srgbClr val="EDF5F3"/>
          </a:solidFill>
          <a:ln/>
        </p:spPr>
      </p:sp>
      <p:sp>
        <p:nvSpPr>
          <p:cNvPr id="23" name="Shape 20"/>
          <p:cNvSpPr/>
          <p:nvPr/>
        </p:nvSpPr>
        <p:spPr>
          <a:xfrm>
            <a:off x="500063" y="3533477"/>
            <a:ext cx="8143875" cy="28575"/>
          </a:xfrm>
          <a:prstGeom prst="rect">
            <a:avLst/>
          </a:prstGeom>
          <a:solidFill>
            <a:srgbClr val="0F292F"/>
          </a:solidFill>
          <a:ln/>
        </p:spPr>
      </p:sp>
      <p:sp>
        <p:nvSpPr>
          <p:cNvPr id="24" name="Text 21"/>
          <p:cNvSpPr/>
          <p:nvPr/>
        </p:nvSpPr>
        <p:spPr>
          <a:xfrm>
            <a:off x="500063" y="3533477"/>
            <a:ext cx="1571625" cy="685800"/>
          </a:xfrm>
          <a:prstGeom prst="rect">
            <a:avLst/>
          </a:prstGeom>
          <a:noFill/>
          <a:ln/>
        </p:spPr>
        <p:txBody>
          <a:bodyPr wrap="square" lIns="136017" tIns="119126" rIns="136017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GESTÃO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193131" y="3633490"/>
            <a:ext cx="30503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Atividade-mãe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193131" y="3833515"/>
            <a:ext cx="30503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 escopo, coordenação, entregas e a visão integrada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93131" y="4028182"/>
            <a:ext cx="30503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avanço do capítulo.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79256" y="3633490"/>
            <a:ext cx="30503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de execução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79256" y="3833515"/>
            <a:ext cx="30503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um tópico do capítulo e é atualizada a partir da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79256" y="4028182"/>
            <a:ext cx="30503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da atividade-mãe.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0063" y="4850606"/>
            <a:ext cx="8143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esperado: confirmar que etapas não poluem a lista geral e que seu andamento aparece dentro da ficha-mãe.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42900"/>
            <a:ext cx="8201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CRONOGRAMA MESTRE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71488" y="514350"/>
            <a:ext cx="4562066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4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Execução por item em seis meses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239130" y="699362"/>
            <a:ext cx="143338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627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AGO. 2026 — JAN. 2027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488" y="1181565"/>
            <a:ext cx="8201025" cy="101441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1181565"/>
            <a:ext cx="8201025" cy="10144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1488" y="2538878"/>
            <a:ext cx="2000250" cy="671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35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período transforma entrega em trabalho acompanhável.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71488" y="3309956"/>
            <a:ext cx="2000250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58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e coordenador definem início, término e marcos intermediários diretamente no item.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71488" y="3957079"/>
            <a:ext cx="20002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</a:t>
            </a:r>
            <a:r>
              <a:rPr lang="en-US" sz="7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DE EXECUÇÃO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2721769" y="2403146"/>
            <a:ext cx="991753" cy="1864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706378" y="2403146"/>
            <a:ext cx="7144" cy="18646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9"/>
          <p:cNvSpPr/>
          <p:nvPr/>
        </p:nvSpPr>
        <p:spPr>
          <a:xfrm>
            <a:off x="2721769" y="4260689"/>
            <a:ext cx="991753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0"/>
          <p:cNvSpPr/>
          <p:nvPr/>
        </p:nvSpPr>
        <p:spPr>
          <a:xfrm>
            <a:off x="2843213" y="2503159"/>
            <a:ext cx="74886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2843213" y="2649606"/>
            <a:ext cx="7488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43213" y="3860639"/>
            <a:ext cx="28608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843213" y="4182108"/>
            <a:ext cx="74886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600" dirty="0"/>
          </a:p>
        </p:txBody>
      </p:sp>
      <p:sp>
        <p:nvSpPr>
          <p:cNvPr id="18" name="Shape 14"/>
          <p:cNvSpPr/>
          <p:nvPr/>
        </p:nvSpPr>
        <p:spPr>
          <a:xfrm>
            <a:off x="3713522" y="2403146"/>
            <a:ext cx="991809" cy="1864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698188" y="2403146"/>
            <a:ext cx="7144" cy="18646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6"/>
          <p:cNvSpPr/>
          <p:nvPr/>
        </p:nvSpPr>
        <p:spPr>
          <a:xfrm>
            <a:off x="3713522" y="4260689"/>
            <a:ext cx="99180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7"/>
          <p:cNvSpPr/>
          <p:nvPr/>
        </p:nvSpPr>
        <p:spPr>
          <a:xfrm>
            <a:off x="3834966" y="2503159"/>
            <a:ext cx="74892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3834966" y="2649606"/>
            <a:ext cx="7489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834966" y="3860639"/>
            <a:ext cx="1430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834966" y="4182108"/>
            <a:ext cx="7489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4705331" y="2403146"/>
            <a:ext cx="991753" cy="1864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5689941" y="2403146"/>
            <a:ext cx="7144" cy="18646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3"/>
          <p:cNvSpPr/>
          <p:nvPr/>
        </p:nvSpPr>
        <p:spPr>
          <a:xfrm>
            <a:off x="4705331" y="4260689"/>
            <a:ext cx="991753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4"/>
          <p:cNvSpPr/>
          <p:nvPr/>
        </p:nvSpPr>
        <p:spPr>
          <a:xfrm>
            <a:off x="4826775" y="2503159"/>
            <a:ext cx="74886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4826775" y="2649606"/>
            <a:ext cx="7488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826775" y="3860639"/>
            <a:ext cx="1430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4826775" y="4182108"/>
            <a:ext cx="74886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5697085" y="2403146"/>
            <a:ext cx="991809" cy="1864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6681750" y="2403146"/>
            <a:ext cx="7144" cy="18646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0"/>
          <p:cNvSpPr/>
          <p:nvPr/>
        </p:nvSpPr>
        <p:spPr>
          <a:xfrm>
            <a:off x="5697085" y="4260689"/>
            <a:ext cx="99180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1"/>
          <p:cNvSpPr/>
          <p:nvPr/>
        </p:nvSpPr>
        <p:spPr>
          <a:xfrm>
            <a:off x="5818529" y="2503159"/>
            <a:ext cx="74892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5818529" y="2649606"/>
            <a:ext cx="7489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818529" y="3860639"/>
            <a:ext cx="1430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5818529" y="4182108"/>
            <a:ext cx="7489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600" dirty="0"/>
          </a:p>
        </p:txBody>
      </p:sp>
      <p:sp>
        <p:nvSpPr>
          <p:cNvPr id="39" name="Shape 35"/>
          <p:cNvSpPr/>
          <p:nvPr/>
        </p:nvSpPr>
        <p:spPr>
          <a:xfrm>
            <a:off x="6688894" y="2403146"/>
            <a:ext cx="991809" cy="1864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6"/>
          <p:cNvSpPr/>
          <p:nvPr/>
        </p:nvSpPr>
        <p:spPr>
          <a:xfrm>
            <a:off x="7673560" y="2403146"/>
            <a:ext cx="7144" cy="18646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7"/>
          <p:cNvSpPr/>
          <p:nvPr/>
        </p:nvSpPr>
        <p:spPr>
          <a:xfrm>
            <a:off x="6688894" y="4260689"/>
            <a:ext cx="99180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38"/>
          <p:cNvSpPr/>
          <p:nvPr/>
        </p:nvSpPr>
        <p:spPr>
          <a:xfrm>
            <a:off x="6810338" y="2503159"/>
            <a:ext cx="74892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650" dirty="0"/>
          </a:p>
        </p:txBody>
      </p:sp>
      <p:sp>
        <p:nvSpPr>
          <p:cNvPr id="43" name="Text 39"/>
          <p:cNvSpPr/>
          <p:nvPr/>
        </p:nvSpPr>
        <p:spPr>
          <a:xfrm>
            <a:off x="6810338" y="2649606"/>
            <a:ext cx="7489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Dez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6810338" y="3860639"/>
            <a:ext cx="1430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1"/>
          <p:cNvSpPr/>
          <p:nvPr/>
        </p:nvSpPr>
        <p:spPr>
          <a:xfrm>
            <a:off x="6810338" y="4182108"/>
            <a:ext cx="7489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600" dirty="0"/>
          </a:p>
        </p:txBody>
      </p:sp>
      <p:sp>
        <p:nvSpPr>
          <p:cNvPr id="46" name="Shape 42"/>
          <p:cNvSpPr/>
          <p:nvPr/>
        </p:nvSpPr>
        <p:spPr>
          <a:xfrm>
            <a:off x="7680703" y="2403146"/>
            <a:ext cx="991753" cy="1864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3"/>
          <p:cNvSpPr/>
          <p:nvPr/>
        </p:nvSpPr>
        <p:spPr>
          <a:xfrm>
            <a:off x="8665313" y="2403146"/>
            <a:ext cx="7144" cy="18646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4"/>
          <p:cNvSpPr/>
          <p:nvPr/>
        </p:nvSpPr>
        <p:spPr>
          <a:xfrm>
            <a:off x="7680703" y="4260689"/>
            <a:ext cx="991753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5"/>
          <p:cNvSpPr/>
          <p:nvPr/>
        </p:nvSpPr>
        <p:spPr>
          <a:xfrm>
            <a:off x="7802147" y="2503159"/>
            <a:ext cx="74886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650" dirty="0"/>
          </a:p>
        </p:txBody>
      </p:sp>
      <p:sp>
        <p:nvSpPr>
          <p:cNvPr id="50" name="Text 46"/>
          <p:cNvSpPr/>
          <p:nvPr/>
        </p:nvSpPr>
        <p:spPr>
          <a:xfrm>
            <a:off x="7802147" y="2649606"/>
            <a:ext cx="7488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7802147" y="3860639"/>
            <a:ext cx="1430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Text 48"/>
          <p:cNvSpPr/>
          <p:nvPr/>
        </p:nvSpPr>
        <p:spPr>
          <a:xfrm>
            <a:off x="7802147" y="4182108"/>
            <a:ext cx="74886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600" dirty="0"/>
          </a:p>
        </p:txBody>
      </p:sp>
      <p:sp>
        <p:nvSpPr>
          <p:cNvPr id="53" name="Text 49"/>
          <p:cNvSpPr/>
          <p:nvPr/>
        </p:nvSpPr>
        <p:spPr>
          <a:xfrm>
            <a:off x="471488" y="4396420"/>
            <a:ext cx="8201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esperado:</a:t>
            </a: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aplicar filtros, definir início e marcos, conferir alertas e exportar a visão filtrada em imagem ou PDF.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0050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CRONOGRAMA MESTRE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85788"/>
            <a:ext cx="8115300" cy="40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7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 orientam decisões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14350" y="1090817"/>
            <a:ext cx="6072188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cronograma transforma condições de prazo e capacidade em sinais visuais verificáveis pela equipe.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4350" y="1911232"/>
            <a:ext cx="1128713" cy="11072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9F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643063" y="1812336"/>
            <a:ext cx="3818223" cy="308521"/>
          </a:xfrm>
          <a:prstGeom prst="rect">
            <a:avLst/>
          </a:prstGeom>
          <a:noFill/>
          <a:ln/>
        </p:spPr>
        <p:txBody>
          <a:bodyPr wrap="square" lIns="170053" tIns="0" rIns="153035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vencido sem conclusão: requer encaminhamento e atualização do responsável.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14350" y="2497020"/>
            <a:ext cx="1128713" cy="11072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AF6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PRÓXIMO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643063" y="2398123"/>
            <a:ext cx="3818223" cy="308521"/>
          </a:xfrm>
          <a:prstGeom prst="rect">
            <a:avLst/>
          </a:prstGeom>
          <a:noFill/>
          <a:ln/>
        </p:spPr>
        <p:txBody>
          <a:bodyPr wrap="square" lIns="170053" tIns="0" rIns="153035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iminente: orientar a priorização do trabalho e a revisão de dependências.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4350" y="3082807"/>
            <a:ext cx="1128713" cy="11072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15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SOBREPOSIÇÃO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643063" y="2983911"/>
            <a:ext cx="3818223" cy="308521"/>
          </a:xfrm>
          <a:prstGeom prst="rect">
            <a:avLst/>
          </a:prstGeom>
          <a:noFill/>
          <a:ln/>
        </p:spPr>
        <p:txBody>
          <a:bodyPr wrap="square" lIns="170053" tIns="0" rIns="153035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Períodos concorrentes no mesmo grupo: avaliar capacidade, sequência e delegação de execução.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4350" y="3668595"/>
            <a:ext cx="1128713" cy="11072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A DEFINIR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643063" y="3569698"/>
            <a:ext cx="3818223" cy="308521"/>
          </a:xfrm>
          <a:prstGeom prst="rect">
            <a:avLst/>
          </a:prstGeom>
          <a:noFill/>
          <a:ln/>
        </p:spPr>
        <p:txBody>
          <a:bodyPr wrap="square" lIns="170053" tIns="0" rIns="153035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existe, mas a programação ainda não foi formalizada pelo coordenador responsável.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75610" y="1670131"/>
            <a:ext cx="2854040" cy="3166188"/>
          </a:xfrm>
          <a:prstGeom prst="rect">
            <a:avLst/>
          </a:prstGeom>
          <a:solidFill>
            <a:srgbClr val="0F292F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923" y="1884443"/>
            <a:ext cx="242541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989923" y="2095184"/>
            <a:ext cx="2425415" cy="500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alerta ao compartilhamento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989923" y="2938481"/>
            <a:ext cx="45178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Filtrar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989923" y="3099215"/>
            <a:ext cx="242541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D5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Tomo, grupo, responsável, estado e intervalo temporal.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89923" y="3531412"/>
            <a:ext cx="56307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Conferir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989923" y="3692147"/>
            <a:ext cx="242541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D5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cor, legenda, período, marco e situação do item selecionado.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989923" y="4124344"/>
            <a:ext cx="58539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Exportar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989923" y="4285078"/>
            <a:ext cx="242541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D5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PNG ou PDF; o arquivo deve refletir exatamente a visão filtrada.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4836319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não substituem decisão de coordenação; eles tornam a decisão visível no mesmo ambiente de execução.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COORDENAÇÃO TRANSVERSAL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0063" y="571500"/>
            <a:ext cx="4741162" cy="77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6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Interfaces passam a trabalhar com evidências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612699" y="744457"/>
            <a:ext cx="3031182" cy="59968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interfaces conectam seções, grupos e etapas. Os integrantes envolvidos podem anexar evidências para subsidiar a comparação técnica.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858491"/>
            <a:ext cx="61436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67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1221581" y="1858491"/>
            <a:ext cx="226010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67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3588841" y="1858491"/>
            <a:ext cx="205472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67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E ITENS VINCULADOS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500063" y="2383557"/>
            <a:ext cx="614363" cy="10001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21581" y="2343987"/>
            <a:ext cx="2260104" cy="179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1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Demanda e oferta naval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88841" y="2135758"/>
            <a:ext cx="205472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AQUAPAR · CN Brasil/Estaleiros · Fluvial · Núcleo · Offshore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588841" y="2465710"/>
            <a:ext cx="204048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Demanda, capacidade produtiva e segmentos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588841" y="2605683"/>
            <a:ext cx="4946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prioritários.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00063" y="3140794"/>
            <a:ext cx="614363" cy="10001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21581" y="3101225"/>
            <a:ext cx="2260104" cy="179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1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Descarbonização e base produtiva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588841" y="2892996"/>
            <a:ext cx="205472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AQUAPAR · Descarbonização · IE-UFRJ · Núcleo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588841" y="3222947"/>
            <a:ext cx="184559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Tecnologia, combustíveis, infraestrutura 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588841" y="3362920"/>
            <a:ext cx="839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nacional.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0063" y="3898032"/>
            <a:ext cx="614363" cy="10001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F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221581" y="3858462"/>
            <a:ext cx="2260104" cy="179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1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Política e financiamento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588841" y="3720219"/>
            <a:ext cx="2054721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AQUAPAR · FMM · IE-UFRJ · Núcleo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588841" y="3910199"/>
            <a:ext cx="188444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Instrumentos, riscos, metas, governança 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588841" y="4050171"/>
            <a:ext cx="73943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0063" y="4487391"/>
            <a:ext cx="5143500" cy="387102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esperado:</a:t>
            </a:r>
            <a:r>
              <a:rPr lang="en-US" sz="7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anexar dois PDFs a uma interface, executar a pré-análise e confirmar que os achados são </a:t>
            </a:r>
            <a:r>
              <a:rPr lang="en-US" sz="7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registrados como subsídio à deliberação humana.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929313" y="1744191"/>
            <a:ext cx="2714625" cy="3131418"/>
          </a:xfrm>
          <a:prstGeom prst="rect">
            <a:avLst/>
          </a:prstGeom>
          <a:solidFill>
            <a:srgbClr val="0F292F"/>
          </a:solidFill>
          <a:ln/>
        </p:spPr>
      </p:sp>
      <p:sp>
        <p:nvSpPr>
          <p:cNvPr id="26" name="Text 23"/>
          <p:cNvSpPr/>
          <p:nvPr/>
        </p:nvSpPr>
        <p:spPr>
          <a:xfrm>
            <a:off x="6129338" y="1922785"/>
            <a:ext cx="23145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ASSISTIDO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129338" y="2108522"/>
            <a:ext cx="2314575" cy="488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aponta indícios; a equipe decide.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129338" y="2832832"/>
            <a:ext cx="20002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2832832"/>
            <a:ext cx="204311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50" dirty="0">
                <a:solidFill>
                  <a:srgbClr val="DBE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dependência ou escopo sobreposto.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129338" y="3218594"/>
            <a:ext cx="20002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0" y="3218594"/>
            <a:ext cx="204311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50" dirty="0">
                <a:solidFill>
                  <a:srgbClr val="DBE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Vincular seções, grupos e etapas relacionadas.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129338" y="3604357"/>
            <a:ext cx="20002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00800" y="3604357"/>
            <a:ext cx="204311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50" dirty="0">
                <a:solidFill>
                  <a:srgbClr val="DBE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 envolvidos anexam evidências e materiais.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6129338" y="3990119"/>
            <a:ext cx="20002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0" y="3990119"/>
            <a:ext cx="204311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50" dirty="0">
                <a:solidFill>
                  <a:srgbClr val="DBE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dois PDFs, coordenador solicita pré-análise de inconsistências.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6129338" y="4375882"/>
            <a:ext cx="20002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00800" y="4375882"/>
            <a:ext cx="204311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50" dirty="0">
                <a:solidFill>
                  <a:srgbClr val="DBE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delibera e registra encaminhamento ou resolução auditável.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00063" y="4875609"/>
            <a:ext cx="8143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38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Pré-análise de interfaces · resultados assistidos por IA · decisão humana obrigatória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FONTES PRIMÁRIAS E DIVULGAÇÃO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57213"/>
            <a:ext cx="5737213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Campo e divulgação entram no mesmo controle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51563" y="632892"/>
            <a:ext cx="2378087" cy="70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 atividades externas foram incorporadas ao Portal Naval para acompanhar evidências, relacionamento técnico e comunicação do estudo.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1672977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TÉCNICAS A ESTALEIROS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21494" y="1876574"/>
            <a:ext cx="2027039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2541389" y="1876574"/>
            <a:ext cx="7144" cy="9286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6"/>
          <p:cNvSpPr/>
          <p:nvPr/>
        </p:nvSpPr>
        <p:spPr>
          <a:xfrm>
            <a:off x="521494" y="2798118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7"/>
          <p:cNvSpPr/>
          <p:nvPr/>
        </p:nvSpPr>
        <p:spPr>
          <a:xfrm>
            <a:off x="657225" y="2005161"/>
            <a:ext cx="175557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CAMPO-01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57225" y="2187327"/>
            <a:ext cx="175557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57225" y="2473077"/>
            <a:ext cx="175557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a estaleiros brasileiros e coleta de dados em fontes primárias.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548533" y="1876574"/>
            <a:ext cx="2027039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568428" y="1876574"/>
            <a:ext cx="7144" cy="9286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2548533" y="2798118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3"/>
          <p:cNvSpPr/>
          <p:nvPr/>
        </p:nvSpPr>
        <p:spPr>
          <a:xfrm>
            <a:off x="2684264" y="2005161"/>
            <a:ext cx="175557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CAMPO-02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684264" y="2187327"/>
            <a:ext cx="175557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2684264" y="2473077"/>
            <a:ext cx="175557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comparativas para os casos nacionais de construção naval.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575572" y="1876574"/>
            <a:ext cx="2027039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595467" y="1876574"/>
            <a:ext cx="7144" cy="9286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5572" y="2798118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19"/>
          <p:cNvSpPr/>
          <p:nvPr/>
        </p:nvSpPr>
        <p:spPr>
          <a:xfrm>
            <a:off x="4711303" y="2005161"/>
            <a:ext cx="175557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CAMPO-03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711303" y="2187327"/>
            <a:ext cx="175557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Índia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711303" y="2473077"/>
            <a:ext cx="175557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 de capacidade, organização e políticas setoriais.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602611" y="1876574"/>
            <a:ext cx="2027039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8622506" y="1876574"/>
            <a:ext cx="7144" cy="9286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4"/>
          <p:cNvSpPr/>
          <p:nvPr/>
        </p:nvSpPr>
        <p:spPr>
          <a:xfrm>
            <a:off x="6602611" y="2798118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5"/>
          <p:cNvSpPr/>
          <p:nvPr/>
        </p:nvSpPr>
        <p:spPr>
          <a:xfrm>
            <a:off x="6738342" y="2005161"/>
            <a:ext cx="175557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CAMPO-04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6738342" y="2187327"/>
            <a:ext cx="1755577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Coreia do Sul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738342" y="2473077"/>
            <a:ext cx="175557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de evidências comparativas e lições de execução.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14350" y="3062436"/>
            <a:ext cx="2879601" cy="13001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3386807" y="3062436"/>
            <a:ext cx="7144" cy="130016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14350" y="4355455"/>
            <a:ext cx="2879601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1"/>
          <p:cNvSpPr/>
          <p:nvPr/>
        </p:nvSpPr>
        <p:spPr>
          <a:xfrm>
            <a:off x="514350" y="3062436"/>
            <a:ext cx="7144" cy="130016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2"/>
          <p:cNvSpPr/>
          <p:nvPr/>
        </p:nvSpPr>
        <p:spPr>
          <a:xfrm>
            <a:off x="671513" y="3219599"/>
            <a:ext cx="256527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671513" y="3330327"/>
            <a:ext cx="256527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primárias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71513" y="3585716"/>
            <a:ext cx="256527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de documentos, registros operacionais e evidências para fundamentar os diagnósticos técnicos.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393951" y="3062436"/>
            <a:ext cx="2617850" cy="13001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6004657" y="3062436"/>
            <a:ext cx="7144" cy="130016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Shape 37"/>
          <p:cNvSpPr/>
          <p:nvPr/>
        </p:nvSpPr>
        <p:spPr>
          <a:xfrm>
            <a:off x="3393951" y="4355455"/>
            <a:ext cx="261785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8"/>
          <p:cNvSpPr/>
          <p:nvPr/>
        </p:nvSpPr>
        <p:spPr>
          <a:xfrm>
            <a:off x="3551113" y="3219599"/>
            <a:ext cx="23035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551113" y="3330327"/>
            <a:ext cx="23035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estruturadas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551113" y="3585716"/>
            <a:ext cx="23035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interlocutores, objetivos, achados e vínculos com itens de execução do estudo.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011800" y="3062436"/>
            <a:ext cx="2617850" cy="13001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8622506" y="3062436"/>
            <a:ext cx="7144" cy="130016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6" name="Shape 43"/>
          <p:cNvSpPr/>
          <p:nvPr/>
        </p:nvSpPr>
        <p:spPr>
          <a:xfrm>
            <a:off x="6011800" y="4355455"/>
            <a:ext cx="261785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44"/>
          <p:cNvSpPr/>
          <p:nvPr/>
        </p:nvSpPr>
        <p:spPr>
          <a:xfrm>
            <a:off x="6168963" y="3219599"/>
            <a:ext cx="23035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DIVULGAÇÃO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6168963" y="3330327"/>
            <a:ext cx="23035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Apresentações e audiências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168963" y="3585716"/>
            <a:ext cx="23035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Apresentações de relatórios, reuniões com a equipe e audiências públicas sob acompanhamento.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14350" y="4829175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esperado:</a:t>
            </a: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filtrar por categoria e estado; conferir vínculo, grupo, responsável e período de cada atividade externa.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EVIDÊNCIAS E QUALIDADE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6188106" cy="78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70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Biblioteca e revisão mantêm evidências rastreáveis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02456" y="669392"/>
            <a:ext cx="1927194" cy="689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portal reúne referências e transforma materiais em produção em registros revisáveis, com decisão documentada.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1816187"/>
            <a:ext cx="2178844" cy="239316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ATUAL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14350" y="2134084"/>
            <a:ext cx="2178844" cy="502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331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514350" y="2707704"/>
            <a:ext cx="21788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3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disponíveis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4350" y="3164904"/>
            <a:ext cx="2178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4350" y="3422079"/>
            <a:ext cx="217884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únicos oriundos do Drive e já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4350" y="3585660"/>
            <a:ext cx="217884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deduplicados.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14350" y="3842110"/>
            <a:ext cx="2178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4350" y="4099285"/>
            <a:ext cx="217884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classificações temáticas para busca 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14350" y="4262865"/>
            <a:ext cx="217884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do acervo.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993231" y="1787612"/>
            <a:ext cx="1130610" cy="185738"/>
          </a:xfrm>
          <a:prstGeom prst="rect">
            <a:avLst/>
          </a:prstGeom>
          <a:noFill/>
          <a:ln/>
        </p:spPr>
        <p:txBody>
          <a:bodyPr wrap="non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industriais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188135" y="1787612"/>
            <a:ext cx="1253114" cy="185738"/>
          </a:xfrm>
          <a:prstGeom prst="rect">
            <a:avLst/>
          </a:prstGeom>
          <a:noFill/>
          <a:ln/>
        </p:spPr>
        <p:txBody>
          <a:bodyPr wrap="non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 naval no Brasil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505543" y="1787612"/>
            <a:ext cx="1342132" cy="185738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naval mundial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911969" y="1787612"/>
            <a:ext cx="1603493" cy="185738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Produtividade e competitividade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993231" y="2037643"/>
            <a:ext cx="958490" cy="185738"/>
          </a:xfrm>
          <a:prstGeom prst="rect">
            <a:avLst/>
          </a:prstGeom>
          <a:noFill/>
          <a:ln/>
        </p:spPr>
        <p:txBody>
          <a:bodyPr wrap="non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Descarbonização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016015" y="2037643"/>
            <a:ext cx="1431206" cy="185738"/>
          </a:xfrm>
          <a:prstGeom prst="rect">
            <a:avLst/>
          </a:prstGeom>
          <a:noFill/>
          <a:ln/>
        </p:spPr>
        <p:txBody>
          <a:bodyPr wrap="square" lIns="102108" tIns="68072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6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governança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993231" y="2423406"/>
            <a:ext cx="563641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EVIDÊNCIA E REVISÃO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128963" y="2780593"/>
            <a:ext cx="1143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CONSULTAR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128963" y="3023481"/>
            <a:ext cx="1143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Localizar referência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28963" y="3486038"/>
            <a:ext cx="1143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por título, descrição, tema, classificação ou frente do estudo.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36281" y="2780593"/>
            <a:ext cx="1143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PRODUZIR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536281" y="3023481"/>
            <a:ext cx="1143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material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36281" y="3486038"/>
            <a:ext cx="11430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versão associada ao item de execução e ao grupo responsável.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943600" y="2780593"/>
            <a:ext cx="1143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REVISAR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943600" y="3023481"/>
            <a:ext cx="1143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Coletar apontamentos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0" y="3486038"/>
            <a:ext cx="1143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Revisores designados comentam, solicitam ajustes e registram parecer.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50919" y="2780593"/>
            <a:ext cx="1143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DECIDIR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350919" y="3023481"/>
            <a:ext cx="1143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Consolidar evidência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350919" y="3486038"/>
            <a:ext cx="1143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responde, resolve pendências e mantém o histórico auditável.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4350" y="4829175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esperado:</a:t>
            </a: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localizar uma referência por tema, abrir um material em produção e conferir a disponibilidade do fluxo de revisão conforme o perfil.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85763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ROTEIRO DE ACEITE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71500"/>
            <a:ext cx="5549968" cy="787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70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passos para testar com evidência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64318" y="841790"/>
            <a:ext cx="2565332" cy="517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rodada deve verificar a navegação hierárquica, a atribuição de etapas e a comparação assistida de interfaces.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21494" y="1744749"/>
            <a:ext cx="2027039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541389" y="1744749"/>
            <a:ext cx="7144" cy="1600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521494" y="3337806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6"/>
          <p:cNvSpPr/>
          <p:nvPr/>
        </p:nvSpPr>
        <p:spPr>
          <a:xfrm>
            <a:off x="650081" y="1880481"/>
            <a:ext cx="176986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0081" y="2344824"/>
            <a:ext cx="1769864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0081" y="2596139"/>
            <a:ext cx="1769864" cy="45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o portal e confirme que sua conta está vinculada ao integrante e perfil corretos.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0081" y="3166858"/>
            <a:ext cx="176986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CORRETO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2548533" y="1744749"/>
            <a:ext cx="2027039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568428" y="1744749"/>
            <a:ext cx="7144" cy="1600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2548533" y="3337806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3"/>
          <p:cNvSpPr/>
          <p:nvPr/>
        </p:nvSpPr>
        <p:spPr>
          <a:xfrm>
            <a:off x="2677120" y="1880481"/>
            <a:ext cx="176986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677120" y="2344824"/>
            <a:ext cx="1769864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atividade-mãe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677120" y="2596139"/>
            <a:ext cx="1769864" cy="45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 uma frente na lista e confira se as etapas aparecem somente dentro da ficha.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677120" y="3166858"/>
            <a:ext cx="176986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VISÍVEL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575572" y="1744749"/>
            <a:ext cx="2027039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595467" y="1744749"/>
            <a:ext cx="7144" cy="1600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5572" y="3337806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0"/>
          <p:cNvSpPr/>
          <p:nvPr/>
        </p:nvSpPr>
        <p:spPr>
          <a:xfrm>
            <a:off x="4704159" y="1880481"/>
            <a:ext cx="176986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704159" y="2344824"/>
            <a:ext cx="1769864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uma etapa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04159" y="2596139"/>
            <a:ext cx="1769864" cy="45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executor, prazo e andamento de um tópico; atualize conforme a permissão recebida.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04159" y="3166858"/>
            <a:ext cx="176986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RASTREÁVEL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6602611" y="1744749"/>
            <a:ext cx="2027039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8622506" y="1744749"/>
            <a:ext cx="7144" cy="1600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6"/>
          <p:cNvSpPr/>
          <p:nvPr/>
        </p:nvSpPr>
        <p:spPr>
          <a:xfrm>
            <a:off x="6602611" y="3337806"/>
            <a:ext cx="2027039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7"/>
          <p:cNvSpPr/>
          <p:nvPr/>
        </p:nvSpPr>
        <p:spPr>
          <a:xfrm>
            <a:off x="6731198" y="1880481"/>
            <a:ext cx="176986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dirty="0">
                <a:solidFill>
                  <a:srgbClr val="14A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6731198" y="2344824"/>
            <a:ext cx="1769864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uma interface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731198" y="2596139"/>
            <a:ext cx="1769864" cy="45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Anexe evidências, execute a pré-análise com PDFs e registre o encaminhamento humano.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731198" y="3166858"/>
            <a:ext cx="176986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AUDITÁVEL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14350" y="3537831"/>
            <a:ext cx="3182429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50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retorno deve permitir reprodução e decisão.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14350" y="4095601"/>
            <a:ext cx="3182429" cy="45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Classifique a ocorrência como bloqueador, erro funcional, inconsistência de dados, melhoria de usabilidade ou dúvida sobre o fluxo.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939667" y="3602124"/>
            <a:ext cx="1357313" cy="200025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OU INTERFACE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5296979" y="3634606"/>
            <a:ext cx="3332671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da atividade-mãe, etapa ou interface afetada.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939667" y="3959312"/>
            <a:ext cx="1357313" cy="10001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UTILIZADO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296979" y="3941787"/>
            <a:ext cx="3332671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Administrador, coordenador, executor, revisor ou integrante envolvido.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939667" y="4216487"/>
            <a:ext cx="1357313" cy="200025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X OBSERVADO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5296979" y="4248969"/>
            <a:ext cx="3332671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previsto e resultado efetivo.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939667" y="4573674"/>
            <a:ext cx="1357313" cy="10001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F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296979" y="4556150"/>
            <a:ext cx="3332671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Captura, horário, arquivo usado ou mensagem de erro.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14350" y="4836319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da rodada:</a:t>
            </a:r>
            <a:r>
              <a:rPr lang="en-US" sz="75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preservar dados, permissões e rastreabilidade antes de discutir ajustes visuais.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00050"/>
            <a:ext cx="845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DELIMITAÇÃO DE ESCOPO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342900" y="585788"/>
            <a:ext cx="8458200" cy="40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750" b="1" spc="-1" kern="0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rodada testa a operação já disponível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42900" y="1090817"/>
            <a:ext cx="685800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9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critérios de aceite devem concentrar-se nos fluxos liberados. A pré-análise é assistida e os recursos externos continuam sujeitos a configuração específica.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42900" y="1742238"/>
            <a:ext cx="4157663" cy="3129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742238"/>
            <a:ext cx="4157663" cy="28575"/>
          </a:xfrm>
          <a:prstGeom prst="rect">
            <a:avLst/>
          </a:prstGeom>
          <a:solidFill>
            <a:srgbClr val="0F292F"/>
          </a:solidFill>
          <a:ln/>
        </p:spPr>
      </p:sp>
      <p:sp>
        <p:nvSpPr>
          <p:cNvPr id="8" name="Text 5"/>
          <p:cNvSpPr/>
          <p:nvPr/>
        </p:nvSpPr>
        <p:spPr>
          <a:xfrm>
            <a:off x="485775" y="1856538"/>
            <a:ext cx="387191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NESTA RODADA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85775" y="2038703"/>
            <a:ext cx="3871913" cy="267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Fluxos prontos para teste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5775" y="2391594"/>
            <a:ext cx="387191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58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com dados, permissões e controles disponíveis no Portal Naval.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5775" y="2727127"/>
            <a:ext cx="1857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7238" y="2658926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34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Atividades-mãe e etapas internas com executor, prazo, estado e progresso.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5775" y="3055739"/>
            <a:ext cx="1857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7238" y="2987539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34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e revisor entre integrantes ativos, mantendo a coordenação formal.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5775" y="3384352"/>
            <a:ext cx="1857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7238" y="3390435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34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de materiais e evidências vinculados a atividades e interfaces.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5775" y="3712964"/>
            <a:ext cx="1857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7238" y="3644764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34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Pré-análise de inconsistências com ao menos dois PDFs e registro auditável.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43438" y="1742238"/>
            <a:ext cx="4157663" cy="3129800"/>
          </a:xfrm>
          <a:prstGeom prst="rect">
            <a:avLst/>
          </a:prstGeom>
          <a:solidFill>
            <a:srgbClr val="F1F4F4"/>
          </a:solidFill>
          <a:ln/>
        </p:spPr>
      </p:sp>
      <p:sp>
        <p:nvSpPr>
          <p:cNvPr id="20" name="Shape 17"/>
          <p:cNvSpPr/>
          <p:nvPr/>
        </p:nvSpPr>
        <p:spPr>
          <a:xfrm>
            <a:off x="4643438" y="1742238"/>
            <a:ext cx="4157663" cy="28575"/>
          </a:xfrm>
          <a:prstGeom prst="rect">
            <a:avLst/>
          </a:prstGeom>
          <a:solidFill>
            <a:srgbClr val="8FA3A6"/>
          </a:solidFill>
          <a:ln/>
        </p:spPr>
      </p:sp>
      <p:sp>
        <p:nvSpPr>
          <p:cNvPr id="21" name="Text 18"/>
          <p:cNvSpPr/>
          <p:nvPr/>
        </p:nvSpPr>
        <p:spPr>
          <a:xfrm>
            <a:off x="4786313" y="1856538"/>
            <a:ext cx="387191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617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E FASE POSTERIOR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786313" y="2038703"/>
            <a:ext cx="3871913" cy="267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0F2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que exigem cautela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786313" y="2391594"/>
            <a:ext cx="3871913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58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dependentes de integração externa, formato de arquivo ou deliberação da equipe.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86313" y="2892996"/>
            <a:ext cx="18573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57775" y="2821223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não decide, não resolve interfaces e não altera conteúdo automaticamente.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86313" y="3221608"/>
            <a:ext cx="18573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57775" y="3149836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pré-análise atual compara evidências em PDF; outros formatos permanecem disponíveis para consulta.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786313" y="3550221"/>
            <a:ext cx="18573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57775" y="3478448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real de WhatsApp e sincronização OAuth do Drive aguardam configuração válida.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786313" y="3878833"/>
            <a:ext cx="18573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78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57775" y="3807061"/>
            <a:ext cx="36004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reais e marcos são definidos pelos coordenadores, sem inferência automática.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42900" y="4872038"/>
            <a:ext cx="8458200" cy="21431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F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 ao testador:</a:t>
            </a:r>
            <a:r>
              <a:rPr lang="en-US" sz="80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registre falhas de permissão, persistência e rastreabilidade; trate limites declarados como observações de escopo.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28625"/>
            <a:ext cx="4035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ENCERRAMENTO DA RODADA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642938"/>
            <a:ext cx="3714750" cy="422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950" b="1" spc="-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14350" y="1208410"/>
            <a:ext cx="3714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7E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rodada deve confirmar que a gestão por capítulos é legível, rastreável e segura para cada perfil envolvido.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" y="2004938"/>
            <a:ext cx="3000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959955"/>
            <a:ext cx="363544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F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que as 47 atividades-mãe organizam a consulta e que as etapas aparecem apenas nas fichas correspondentes.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14350" y="2483569"/>
            <a:ext cx="3000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438586"/>
            <a:ext cx="363544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F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executor, revisor, materiais e evidências com o perfil autorizado para cada atividade ou interface.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4350" y="2962201"/>
            <a:ext cx="3000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2D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2917217"/>
            <a:ext cx="363544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F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Anexar dois PDFs em uma interface, avaliar a pré-análise e registrar a decisão humana ou ocorrência encontrada.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4350" y="3508697"/>
            <a:ext cx="403549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2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BLOQUEADORES E AJUSTES PRIORIZADOS POR FLUXO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978468" y="535781"/>
            <a:ext cx="3571875" cy="253603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056" y="664369"/>
            <a:ext cx="3314700" cy="2143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7056" y="2857500"/>
            <a:ext cx="3314700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496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rodada transforma funcionalidades disponíveis em controles verificados no uso da equipe.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4978468" y="3250406"/>
            <a:ext cx="3571875" cy="608614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7E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pré-análise é um subsídio e não substitui a decisão técnica. WhatsApp e sincronização OAuth do Drive continuam em fase posterior de configuração externa.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14350" y="4814888"/>
            <a:ext cx="26292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B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Naval · Gestão do Estudo BNDES — Indústria Naval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7434188" y="4814888"/>
            <a:ext cx="11954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B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pela participação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2026-09-01T01:26:17Z</dcterms:created>
  <dcterms:modified xsi:type="dcterms:W3CDTF">2026-09-01T01:26:17Z</dcterms:modified>
</cp:coreProperties>
</file>